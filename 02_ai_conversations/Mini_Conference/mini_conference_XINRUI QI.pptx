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1FA"/>
    <a:srgbClr val="1E276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62"/>
    <p:restoredTop sz="81994"/>
  </p:normalViewPr>
  <p:slideViewPr>
    <p:cSldViewPr snapToGrid="0" snapToObjects="1">
      <p:cViewPr>
        <p:scale>
          <a:sx n="93" d="100"/>
          <a:sy n="93" d="100"/>
        </p:scale>
        <p:origin x="896" y="392"/>
      </p:cViewPr>
      <p:guideLst>
        <p:guide orient="horz" pos="2160"/>
        <p:guide pos="2880"/>
      </p:guideLst>
    </p:cSldViewPr>
  </p:slideViewPr>
  <p:notesTextViewPr>
    <p:cViewPr>
      <p:scale>
        <a:sx n="100" d="100"/>
        <a:sy n="100" d="100"/>
      </p:scale>
      <p:origin x="0" y="-17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794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zh-CN" sz="1200" kern="1200" dirty="0">
                <a:solidFill>
                  <a:schemeClr val="tx1"/>
                </a:solidFill>
                <a:effectLst/>
                <a:latin typeface="+mn-lt"/>
                <a:ea typeface="+mn-ea"/>
                <a:cs typeface="+mn-cs"/>
              </a:rPr>
              <a:t>Hi everyone — I’m Xinrui.</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And my supervisor is </a:t>
            </a:r>
            <a:r>
              <a:rPr lang="en-GB" altLang="zh-CN" sz="1200" kern="1200" dirty="0">
                <a:solidFill>
                  <a:schemeClr val="tx1"/>
                </a:solidFill>
                <a:effectLst/>
                <a:latin typeface="+mn-lt"/>
                <a:ea typeface="+mn-ea"/>
                <a:cs typeface="+mn-cs"/>
              </a:rPr>
              <a:t>Beatrice Taylor.</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My project is about forecasting next-week Brent oil prices, using three kinds of data:</a:t>
            </a:r>
          </a:p>
          <a:p>
            <a:r>
              <a:rPr lang="en-US" altLang="zh-CN" sz="1200" kern="1200" dirty="0">
                <a:solidFill>
                  <a:schemeClr val="tx1"/>
                </a:solidFill>
                <a:effectLst/>
                <a:latin typeface="+mn-lt"/>
                <a:ea typeface="+mn-ea"/>
                <a:cs typeface="+mn-cs"/>
              </a:rPr>
              <a:t>financial markets, satellite imagery, and shipping networks.</a:t>
            </a:r>
            <a:endParaRPr lang="zh-CN"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main question is: </a:t>
            </a:r>
          </a:p>
          <a:p>
            <a:r>
              <a:rPr lang="en-US" altLang="zh-CN" sz="1200" i="1" kern="1200" dirty="0">
                <a:solidFill>
                  <a:schemeClr val="tx1"/>
                </a:solidFill>
                <a:effectLst/>
                <a:latin typeface="+mn-lt"/>
                <a:ea typeface="+mn-ea"/>
                <a:cs typeface="+mn-cs"/>
              </a:rPr>
              <a:t>not only what data to add, but how to use them well.</a:t>
            </a:r>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zh-CN" sz="1200" kern="1200" dirty="0">
                <a:solidFill>
                  <a:schemeClr val="tx1"/>
                </a:solidFill>
                <a:effectLst/>
                <a:latin typeface="+mn-lt"/>
                <a:ea typeface="+mn-ea"/>
                <a:cs typeface="+mn-cs"/>
              </a:rPr>
              <a:t>Lets start with why this matters.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Oil prices affect many things we pay for every day. When oil prices rise, energy bills and inflation often rise as well. So being able to predict oil prices one week ahead could be useful, not just academically, but in the real world.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problem is that oil prices are very hard to predict.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 very simple rule —</a:t>
            </a:r>
            <a:r>
              <a:rPr lang="en-US" altLang="zh-CN" sz="1200" b="1" kern="1200" dirty="0">
                <a:solidFill>
                  <a:schemeClr val="tx1"/>
                </a:solidFill>
                <a:effectLst/>
                <a:latin typeface="+mn-lt"/>
                <a:ea typeface="+mn-ea"/>
                <a:cs typeface="+mn-cs"/>
              </a:rPr>
              <a:t> assuming next week will look like this week</a:t>
            </a:r>
            <a:r>
              <a:rPr lang="en-US" altLang="zh-CN" sz="1200" kern="1200" dirty="0">
                <a:solidFill>
                  <a:schemeClr val="tx1"/>
                </a:solidFill>
                <a:effectLst/>
                <a:latin typeface="+mn-lt"/>
                <a:ea typeface="+mn-ea"/>
                <a:cs typeface="+mn-cs"/>
              </a:rPr>
              <a:t> — already works well, or best in the literature. So any more complex model needs to beat a strong baseline.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That is why I look beyond the usual economic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Oil is a physical commodity /</a:t>
            </a:r>
            <a:r>
              <a:rPr lang="en-US" altLang="zh-CN" sz="1200" kern="1200" dirty="0" err="1">
                <a:solidFill>
                  <a:schemeClr val="tx1"/>
                </a:solidFill>
                <a:effectLst/>
                <a:latin typeface="+mn-lt"/>
                <a:ea typeface="+mn-ea"/>
                <a:cs typeface="+mn-cs"/>
              </a:rPr>
              <a:t>kəˈmɒdəti</a:t>
            </a:r>
            <a:r>
              <a:rPr lang="en-US" altLang="zh-CN" sz="1200" kern="1200" dirty="0">
                <a:solidFill>
                  <a:schemeClr val="tx1"/>
                </a:solidFill>
                <a:effectLst/>
                <a:latin typeface="+mn-lt"/>
                <a:ea typeface="+mn-ea"/>
                <a:cs typeface="+mn-cs"/>
              </a:rPr>
              <a:t>/. We can use satellite images to observe activity around ports and terminals. We can also track tankers moving through important shipping routes. These signals may change before the oil price changes.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My study asks three simple questions.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First, do these new data sources improve the forecast?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Second, is it enough to put all the data into one model?</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Third, can we do better by learning from each data source separately and then combining them?</a:t>
            </a:r>
            <a:endParaRPr lang="zh-CN" altLang="zh-CN" sz="1200" kern="1200" dirty="0">
              <a:solidFill>
                <a:schemeClr val="tx1"/>
              </a:solidFill>
              <a:effectLst/>
              <a:latin typeface="+mn-lt"/>
              <a:ea typeface="+mn-ea"/>
              <a:cs typeface="+mn-cs"/>
            </a:endParaRPr>
          </a:p>
          <a:p>
            <a:pPr>
              <a:buNone/>
            </a:pPr>
            <a:endParaRPr lang="zh-CN" altLang="zh-CN" sz="1600"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zh-CN" sz="1200" kern="1200" dirty="0">
                <a:solidFill>
                  <a:schemeClr val="tx1"/>
                </a:solidFill>
                <a:effectLst/>
                <a:latin typeface="+mn-lt"/>
                <a:ea typeface="+mn-ea"/>
                <a:cs typeface="+mn-cs"/>
              </a:rPr>
              <a:t>This slide shows the overall structure of the thesis.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At the top, I have a very simple baseline: next week’s price is same as this week’s. Every model has to be compared with this baseline.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Then I test the same idea in two different ways.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first is the flat layer.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 start with financial data only, as Model 1. Then I add satellite data as Model 2, shipping data as Model 3, or both as Model 4. M2 and M3 are two separate branches.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this layer, all the variables are</a:t>
            </a:r>
            <a:r>
              <a:rPr lang="en-US" altLang="zh-CN" sz="1200" b="1" kern="1200" dirty="0">
                <a:solidFill>
                  <a:schemeClr val="tx1"/>
                </a:solidFill>
                <a:effectLst/>
                <a:latin typeface="+mn-lt"/>
                <a:ea typeface="+mn-ea"/>
                <a:cs typeface="+mn-cs"/>
              </a:rPr>
              <a:t> simply added as extra columns /ˈ</a:t>
            </a:r>
            <a:r>
              <a:rPr lang="en-US" altLang="zh-CN" sz="1200" b="1" kern="1200" dirty="0" err="1">
                <a:solidFill>
                  <a:schemeClr val="tx1"/>
                </a:solidFill>
                <a:effectLst/>
                <a:latin typeface="+mn-lt"/>
                <a:ea typeface="+mn-ea"/>
                <a:cs typeface="+mn-cs"/>
              </a:rPr>
              <a:t>kɒləmz</a:t>
            </a:r>
            <a:r>
              <a:rPr lang="en-US" altLang="zh-CN" sz="1200" b="1" kern="1200" dirty="0">
                <a:solidFill>
                  <a:schemeClr val="tx1"/>
                </a:solidFill>
                <a:effectLst/>
                <a:latin typeface="+mn-lt"/>
                <a:ea typeface="+mn-ea"/>
                <a:cs typeface="+mn-cs"/>
              </a:rPr>
              <a:t>/ in one large table. </a:t>
            </a:r>
            <a:r>
              <a:rPr lang="en-US" altLang="zh-CN" sz="1200" kern="1200" dirty="0">
                <a:solidFill>
                  <a:schemeClr val="tx1"/>
                </a:solidFill>
                <a:effectLst/>
                <a:latin typeface="+mn-lt"/>
                <a:ea typeface="+mn-ea"/>
                <a:cs typeface="+mn-cs"/>
              </a:rPr>
              <a:t>This helps me see which type of data is actually useful.</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second is the fusion layer.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data combinations are the same, but the structure is different. Each data type has its own </a:t>
            </a:r>
            <a:r>
              <a:rPr lang="en-US" altLang="zh-CN" sz="1200" b="1" kern="1200" dirty="0">
                <a:solidFill>
                  <a:schemeClr val="tx1"/>
                </a:solidFill>
                <a:effectLst/>
                <a:latin typeface="+mn-lt"/>
                <a:ea typeface="+mn-ea"/>
                <a:cs typeface="+mn-cs"/>
              </a:rPr>
              <a:t>specialized model.</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 use </a:t>
            </a:r>
            <a:r>
              <a:rPr lang="en-US" altLang="zh-CN" sz="1200" b="1" kern="1200" dirty="0">
                <a:solidFill>
                  <a:schemeClr val="tx1"/>
                </a:solidFill>
                <a:effectLst/>
                <a:latin typeface="+mn-lt"/>
                <a:ea typeface="+mn-ea"/>
                <a:cs typeface="+mn-cs"/>
              </a:rPr>
              <a:t>TCN, temporal convolutional network</a:t>
            </a:r>
            <a:r>
              <a:rPr lang="en-US" altLang="zh-CN" sz="1200" kern="1200" dirty="0">
                <a:solidFill>
                  <a:schemeClr val="tx1"/>
                </a:solidFill>
                <a:effectLst/>
                <a:latin typeface="+mn-lt"/>
                <a:ea typeface="+mn-ea"/>
                <a:cs typeface="+mn-cs"/>
              </a:rPr>
              <a:t>, to learn patterns over time in the financial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shipping, I use </a:t>
            </a:r>
            <a:r>
              <a:rPr lang="en-US" altLang="zh-CN" sz="1200" b="1" kern="1200" dirty="0">
                <a:solidFill>
                  <a:schemeClr val="tx1"/>
                </a:solidFill>
                <a:effectLst/>
                <a:latin typeface="+mn-lt"/>
                <a:ea typeface="+mn-ea"/>
                <a:cs typeface="+mn-cs"/>
              </a:rPr>
              <a:t>GAT, graph attention network</a:t>
            </a:r>
            <a:r>
              <a:rPr lang="en-US" altLang="zh-CN" sz="1200" kern="1200" dirty="0">
                <a:solidFill>
                  <a:schemeClr val="tx1"/>
                </a:solidFill>
                <a:effectLst/>
                <a:latin typeface="+mn-lt"/>
                <a:ea typeface="+mn-ea"/>
                <a:cs typeface="+mn-cs"/>
              </a:rPr>
              <a:t>, to learn the</a:t>
            </a:r>
            <a:r>
              <a:rPr lang="en-US" altLang="zh-CN" sz="1200" b="1" kern="1200" dirty="0">
                <a:solidFill>
                  <a:schemeClr val="tx1"/>
                </a:solidFill>
                <a:effectLst/>
                <a:latin typeface="+mn-lt"/>
                <a:ea typeface="+mn-ea"/>
                <a:cs typeface="+mn-cs"/>
              </a:rPr>
              <a:t> connections between ports and chokepoints.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satellite data, I use Prithvi /ˈ</a:t>
            </a:r>
            <a:r>
              <a:rPr lang="en-US" altLang="zh-CN" sz="1200" kern="1200" dirty="0" err="1">
                <a:solidFill>
                  <a:schemeClr val="tx1"/>
                </a:solidFill>
                <a:effectLst/>
                <a:latin typeface="+mn-lt"/>
                <a:ea typeface="+mn-ea"/>
                <a:cs typeface="+mn-cs"/>
              </a:rPr>
              <a:t>prɪθvi</a:t>
            </a:r>
            <a:r>
              <a:rPr lang="en-US" altLang="zh-CN" sz="1200"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a specialized encoder that turns satellite images into useful numerical features</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outputs are then combined using </a:t>
            </a:r>
            <a:r>
              <a:rPr lang="en-US" altLang="zh-CN" sz="1200" b="1" kern="1200" dirty="0">
                <a:solidFill>
                  <a:schemeClr val="tx1"/>
                </a:solidFill>
                <a:effectLst/>
                <a:latin typeface="+mn-lt"/>
                <a:ea typeface="+mn-ea"/>
                <a:cs typeface="+mn-cs"/>
              </a:rPr>
              <a:t>gated fusion</a:t>
            </a:r>
            <a:r>
              <a:rPr lang="en-US" altLang="zh-CN" sz="1200" kern="1200" dirty="0">
                <a:solidFill>
                  <a:schemeClr val="tx1"/>
                </a:solidFill>
                <a:effectLst/>
                <a:latin typeface="+mn-lt"/>
                <a:ea typeface="+mn-ea"/>
                <a:cs typeface="+mn-cs"/>
              </a:rPr>
              <a:t>. This means the model can learn, week by week, how much to trust each type of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 also keep a simple </a:t>
            </a:r>
            <a:r>
              <a:rPr lang="en-US" altLang="zh-CN" sz="1200" b="1" kern="1200" dirty="0">
                <a:solidFill>
                  <a:schemeClr val="tx1"/>
                </a:solidFill>
                <a:effectLst/>
                <a:latin typeface="+mn-lt"/>
                <a:ea typeface="+mn-ea"/>
                <a:cs typeface="+mn-cs"/>
              </a:rPr>
              <a:t>vector-concatenation</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kənˌkætəˈneɪʃən</a:t>
            </a:r>
            <a:r>
              <a:rPr lang="en-US" altLang="zh-CN" sz="1200" kern="1200" dirty="0">
                <a:solidFill>
                  <a:schemeClr val="tx1"/>
                </a:solidFill>
                <a:effectLst/>
                <a:latin typeface="+mn-lt"/>
                <a:ea typeface="+mn-ea"/>
                <a:cs typeface="+mn-cs"/>
              </a:rPr>
              <a:t>/ model as a control. This allows me to test whether the smarter fusion method really adds value.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the flat layer asks: is there useful information in these new data sources, and can a large table use 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fusion layer asks: can a better model structure make better use of that information?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Next, I will show the results from the flat layer.</a:t>
            </a:r>
            <a:endParaRPr lang="zh-CN" altLang="zh-CN" sz="1200" kern="1200" dirty="0">
              <a:solidFill>
                <a:schemeClr val="tx1"/>
              </a:solidFill>
              <a:effectLst/>
              <a:latin typeface="+mn-lt"/>
              <a:ea typeface="+mn-ea"/>
              <a:cs typeface="+mn-cs"/>
            </a:endParaRPr>
          </a:p>
          <a:p>
            <a:endParaRPr lang="zh-CN" altLang="zh-CN"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zh-CN" sz="1200" kern="1200" dirty="0">
                <a:solidFill>
                  <a:schemeClr val="tx1"/>
                </a:solidFill>
                <a:effectLst/>
                <a:latin typeface="+mn-lt"/>
                <a:ea typeface="+mn-ea"/>
                <a:cs typeface="+mn-cs"/>
              </a:rPr>
              <a:t>I use two common benchmark models from the oil forecasting literature.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One is a regularized linear model. The other is a tree-based model.</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Both models use the same features and the same </a:t>
            </a:r>
            <a:r>
              <a:rPr lang="en-US" altLang="zh-CN" sz="1200" b="1" kern="1200" dirty="0">
                <a:solidFill>
                  <a:schemeClr val="tx1"/>
                </a:solidFill>
                <a:effectLst/>
                <a:latin typeface="+mn-lt"/>
                <a:ea typeface="+mn-ea"/>
                <a:cs typeface="+mn-cs"/>
              </a:rPr>
              <a:t>walk-forward testing process</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main result is not that these models easily beat the naive forecast. That is still very difficult.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more useful result is that the type of data matters.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Shipping data gives the clearest signal.</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When I add shipping data to the financial data, the tree model improves clearly compared with the finance-only model. The linear model often does not.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suggests that the useful information is there, but the relationship is not simple or linear.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Satellite data gives a different result.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When I add satellite data on its own, I do not see a clear improvement in the main flat setup.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SHAP chart tells the same story.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the full flat model, shipping data is the most important, followed by financial data. Satellite data contributes the least.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contribution from shipping is about three times larger than the contribution from satellite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the main lesson from the flat layer is this: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Alternative data do contain useful information, especially shipping data. But simply putting everything into one large table does not use that information very well.</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That is why I move to specialized models in the next stage.</a:t>
            </a:r>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zh-CN" sz="1200" kern="1200" dirty="0">
                <a:solidFill>
                  <a:schemeClr val="tx1"/>
                </a:solidFill>
                <a:effectLst/>
                <a:latin typeface="+mn-lt"/>
                <a:ea typeface="+mn-ea"/>
                <a:cs typeface="+mn-cs"/>
              </a:rPr>
              <a:t>The data combinations are the same as before. But now, </a:t>
            </a:r>
            <a:r>
              <a:rPr lang="en-US" altLang="zh-CN" sz="1200" b="1" kern="1200" dirty="0">
                <a:solidFill>
                  <a:schemeClr val="tx1"/>
                </a:solidFill>
                <a:effectLst/>
                <a:latin typeface="+mn-lt"/>
                <a:ea typeface="+mn-ea"/>
                <a:cs typeface="+mn-cs"/>
              </a:rPr>
              <a:t>each type of data has its own model.</a:t>
            </a:r>
            <a:r>
              <a:rPr lang="en-US" altLang="zh-CN" sz="1200" kern="1200" dirty="0">
                <a:solidFill>
                  <a:schemeClr val="tx1"/>
                </a:solidFill>
                <a:effectLst/>
                <a:latin typeface="+mn-lt"/>
                <a:ea typeface="+mn-ea"/>
                <a:cs typeface="+mn-cs"/>
              </a:rPr>
              <a:t> I then combine the outputs using </a:t>
            </a:r>
            <a:r>
              <a:rPr lang="en-US" altLang="zh-CN" sz="1200" b="1" kern="1200" dirty="0">
                <a:solidFill>
                  <a:schemeClr val="tx1"/>
                </a:solidFill>
                <a:effectLst/>
                <a:latin typeface="+mn-lt"/>
                <a:ea typeface="+mn-ea"/>
                <a:cs typeface="+mn-cs"/>
              </a:rPr>
              <a:t>smart weighting</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Let’s look at the table row by row.</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Finance plus shipping shows the biggest change.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the flat setup, it was still below the no-change baseline. With fusion, it is the only combination that moves slightly above 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this is where the new architecture helps the most.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Finance plus satellite also improves, but it is still below the baseline.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means the better structure helps a little, but satellite data is still the weakest source.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model using all three data types sits somewhere in between.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It performs much better than the full flat model, but it is still not as strong as finance plus shipping.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adding satellite data does not automatically make the full model better.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There is also an important design point.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It is not enough to train each data type separately and then simply join the vectors together. The way the model combines and weights them matters.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smart weighting method performs better than simple concatenation.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the main message from the fusion layer is this: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flat models showed that useful signals exist. The fusion models show that we can use more of those signals, especially from shipping data, but we have to stop treating every variable in the same way.</a:t>
            </a:r>
            <a:endParaRPr lang="zh-CN" altLang="zh-CN" dirty="0"/>
          </a:p>
          <a:p>
            <a:endParaRPr lang="zh-CN" altLang="zh-CN"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76B6A-784C-77C3-F237-08183E178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462BB-FFAB-09A4-D2F0-EE51D6DD242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050BFA7-E220-1782-C86A-9DB69DBE257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533A689-8E56-62E8-07DC-7BD643EE9A1B}"/>
              </a:ext>
            </a:extLst>
          </p:cNvPr>
          <p:cNvSpPr>
            <a:spLocks noGrp="1"/>
          </p:cNvSpPr>
          <p:nvPr>
            <p:ph type="sldNum" sz="quarter" idx="5"/>
          </p:nvPr>
        </p:nvSpPr>
        <p:spPr/>
      </p:sp>
    </p:spTree>
    <p:extLst>
      <p:ext uri="{BB962C8B-B14F-4D97-AF65-F5344CB8AC3E}">
        <p14:creationId xmlns:p14="http://schemas.microsoft.com/office/powerpoint/2010/main" val="2291073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Move="1" noResize="1" noEditPoints="1" noAdjustHandles="1" noChangeArrowheads="1" noChangeShapeType="1"/>
          </p:cNvSpPr>
          <p:nvPr/>
        </p:nvSpPr>
        <p:spPr>
          <a:xfrm>
            <a:off x="305"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29640" y="2560320"/>
            <a:ext cx="10716260" cy="1088118"/>
          </a:xfrm>
          <a:prstGeom prst="rect">
            <a:avLst/>
          </a:prstGeom>
          <a:noFill/>
        </p:spPr>
        <p:txBody>
          <a:bodyPr wrap="square" lIns="0" tIns="0" rIns="0" bIns="0" anchor="t">
            <a:spAutoFit/>
          </a:bodyPr>
          <a:lstStyle/>
          <a:p>
            <a:pPr algn="l">
              <a:lnSpc>
                <a:spcPct val="108000"/>
              </a:lnSpc>
              <a:spcAft>
                <a:spcPts val="0"/>
              </a:spcAft>
            </a:pPr>
            <a:r>
              <a:rPr sz="3400" b="1" i="0" dirty="0">
                <a:solidFill>
                  <a:srgbClr val="FFFFFF"/>
                </a:solidFill>
                <a:latin typeface="Cambria"/>
              </a:rPr>
              <a:t>A Modality-Aware </a:t>
            </a:r>
            <a:r>
              <a:rPr sz="3400" b="1" i="0" dirty="0" err="1">
                <a:solidFill>
                  <a:srgbClr val="FFFFFF"/>
                </a:solidFill>
                <a:latin typeface="Cambria"/>
              </a:rPr>
              <a:t>Spatio</a:t>
            </a:r>
            <a:r>
              <a:rPr sz="3400" b="1" i="0" dirty="0">
                <a:solidFill>
                  <a:srgbClr val="FFFFFF"/>
                </a:solidFill>
                <a:latin typeface="Cambria"/>
              </a:rPr>
              <a:t>-Temporal Fusion Framework</a:t>
            </a:r>
            <a:endParaRPr lang="zh-CN" altLang="en-US" sz="3400" b="1" i="0" dirty="0">
              <a:solidFill>
                <a:srgbClr val="FFFFFF"/>
              </a:solidFill>
              <a:latin typeface="Cambria"/>
            </a:endParaRPr>
          </a:p>
          <a:p>
            <a:pPr algn="l">
              <a:lnSpc>
                <a:spcPct val="108000"/>
              </a:lnSpc>
              <a:spcAft>
                <a:spcPts val="0"/>
              </a:spcAft>
            </a:pPr>
            <a:r>
              <a:rPr lang="en-GB" sz="3400" b="1" i="0" dirty="0">
                <a:solidFill>
                  <a:srgbClr val="FFFFFF"/>
                </a:solidFill>
                <a:latin typeface="Cambria"/>
              </a:rPr>
              <a:t>for Brent Crude Oil Forecasting</a:t>
            </a:r>
          </a:p>
        </p:txBody>
      </p:sp>
      <p:sp>
        <p:nvSpPr>
          <p:cNvPr id="5" name="TextBox 4"/>
          <p:cNvSpPr txBox="1"/>
          <p:nvPr/>
        </p:nvSpPr>
        <p:spPr>
          <a:xfrm>
            <a:off x="929640" y="3844174"/>
            <a:ext cx="10332720" cy="548640"/>
          </a:xfrm>
          <a:prstGeom prst="rect">
            <a:avLst/>
          </a:prstGeom>
          <a:noFill/>
        </p:spPr>
        <p:txBody>
          <a:bodyPr wrap="square" lIns="0" tIns="0" rIns="0" bIns="0" anchor="t">
            <a:spAutoFit/>
          </a:bodyPr>
          <a:lstStyle/>
          <a:p>
            <a:pPr algn="l">
              <a:lnSpc>
                <a:spcPct val="100000"/>
              </a:lnSpc>
              <a:spcAft>
                <a:spcPts val="0"/>
              </a:spcAft>
            </a:pPr>
            <a:r>
              <a:rPr sz="1700" b="0" i="1" dirty="0">
                <a:solidFill>
                  <a:srgbClr val="CADCFC"/>
                </a:solidFill>
                <a:latin typeface="Calibri"/>
              </a:rPr>
              <a:t>Financial Time Series  +  Satellite Imagery  +  Maritime Networks</a:t>
            </a:r>
          </a:p>
        </p:txBody>
      </p:sp>
      <p:sp>
        <p:nvSpPr>
          <p:cNvPr id="6" name="TextBox 5"/>
          <p:cNvSpPr txBox="1"/>
          <p:nvPr/>
        </p:nvSpPr>
        <p:spPr>
          <a:xfrm>
            <a:off x="929640" y="4393737"/>
            <a:ext cx="10332720" cy="642612"/>
          </a:xfrm>
          <a:prstGeom prst="rect">
            <a:avLst/>
          </a:prstGeom>
          <a:noFill/>
        </p:spPr>
        <p:txBody>
          <a:bodyPr wrap="square" lIns="0" tIns="0" rIns="0" bIns="0" anchor="t">
            <a:spAutoFit/>
          </a:bodyPr>
          <a:lstStyle/>
          <a:p>
            <a:pPr>
              <a:lnSpc>
                <a:spcPct val="120000"/>
              </a:lnSpc>
              <a:spcAft>
                <a:spcPts val="0"/>
              </a:spcAft>
            </a:pPr>
            <a:r>
              <a:rPr lang="en-US" altLang="zh-CN" dirty="0">
                <a:solidFill>
                  <a:srgbClr val="C9CFE8"/>
                </a:solidFill>
                <a:latin typeface="Calibri"/>
              </a:rPr>
              <a:t>XINRUI</a:t>
            </a:r>
            <a:r>
              <a:rPr lang="zh-CN" altLang="en-US" dirty="0">
                <a:solidFill>
                  <a:srgbClr val="C9CFE8"/>
                </a:solidFill>
                <a:latin typeface="Calibri"/>
              </a:rPr>
              <a:t> </a:t>
            </a:r>
            <a:r>
              <a:rPr lang="en-US" altLang="zh-CN" dirty="0">
                <a:solidFill>
                  <a:srgbClr val="C9CFE8"/>
                </a:solidFill>
                <a:latin typeface="Calibri"/>
              </a:rPr>
              <a:t>QI</a:t>
            </a:r>
            <a:r>
              <a:rPr lang="zh-CN" altLang="en-US" dirty="0">
                <a:solidFill>
                  <a:srgbClr val="C9CFE8"/>
                </a:solidFill>
                <a:latin typeface="Calibri"/>
              </a:rPr>
              <a:t>   </a:t>
            </a:r>
            <a:endParaRPr lang="en-US" sz="1400" dirty="0">
              <a:solidFill>
                <a:srgbClr val="C9CFE8"/>
              </a:solidFill>
              <a:latin typeface="Calibri"/>
            </a:endParaRPr>
          </a:p>
          <a:p>
            <a:pPr>
              <a:lnSpc>
                <a:spcPct val="120000"/>
              </a:lnSpc>
            </a:pPr>
            <a:r>
              <a:rPr lang="en-GB" b="0" i="0" dirty="0">
                <a:solidFill>
                  <a:srgbClr val="C9CFE8"/>
                </a:solidFill>
                <a:latin typeface="Calibri"/>
              </a:rPr>
              <a:t>Supervisor</a:t>
            </a:r>
            <a:r>
              <a:rPr lang="en-US" dirty="0">
                <a:solidFill>
                  <a:srgbClr val="C9CFE8"/>
                </a:solidFill>
                <a:latin typeface="Calibri"/>
              </a:rPr>
              <a:t>: </a:t>
            </a:r>
            <a:r>
              <a:rPr lang="zh-CN" altLang="en-US" b="0" i="0" dirty="0">
                <a:solidFill>
                  <a:srgbClr val="C9CFE8"/>
                </a:solidFill>
                <a:latin typeface="Calibri"/>
              </a:rPr>
              <a:t> </a:t>
            </a:r>
            <a:r>
              <a:rPr lang="en-GB" altLang="zh-CN" b="0" i="0" dirty="0">
                <a:solidFill>
                  <a:srgbClr val="C9CFE8"/>
                </a:solidFill>
                <a:latin typeface="Calibri"/>
              </a:rPr>
              <a:t>Beatrice Taylor</a:t>
            </a:r>
            <a:endParaRPr b="0" i="0" dirty="0">
              <a:solidFill>
                <a:srgbClr val="C9CFE8"/>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63727" y="643838"/>
            <a:ext cx="11064240" cy="461665"/>
          </a:xfrm>
          <a:prstGeom prst="rect">
            <a:avLst/>
          </a:prstGeom>
          <a:noFill/>
        </p:spPr>
        <p:txBody>
          <a:bodyPr wrap="square" lIns="0" tIns="0" rIns="0" bIns="0" anchor="t">
            <a:spAutoFit/>
          </a:bodyPr>
          <a:lstStyle/>
          <a:p>
            <a:pPr algn="l">
              <a:lnSpc>
                <a:spcPct val="100000"/>
              </a:lnSpc>
              <a:spcAft>
                <a:spcPts val="0"/>
              </a:spcAft>
            </a:pPr>
            <a:r>
              <a:rPr lang="en-GB" sz="3000" b="1" i="0" dirty="0">
                <a:solidFill>
                  <a:srgbClr val="141A45"/>
                </a:solidFill>
                <a:latin typeface="Cambria"/>
              </a:rPr>
              <a:t>Research Context</a:t>
            </a:r>
            <a:r>
              <a:rPr lang="zh-CN" altLang="en-US" sz="3000" b="1" i="0" dirty="0">
                <a:solidFill>
                  <a:srgbClr val="141A45"/>
                </a:solidFill>
                <a:latin typeface="Cambria"/>
              </a:rPr>
              <a:t> </a:t>
            </a:r>
            <a:r>
              <a:rPr lang="en-US" altLang="zh-CN" sz="3000" b="1" i="0" dirty="0">
                <a:solidFill>
                  <a:srgbClr val="141A45"/>
                </a:solidFill>
                <a:latin typeface="Cambria"/>
              </a:rPr>
              <a:t>&amp;</a:t>
            </a:r>
            <a:r>
              <a:rPr lang="zh-CN" altLang="en-US" sz="3000" b="1" i="0" dirty="0">
                <a:solidFill>
                  <a:srgbClr val="141A45"/>
                </a:solidFill>
                <a:latin typeface="Cambria"/>
              </a:rPr>
              <a:t> </a:t>
            </a:r>
            <a:r>
              <a:rPr lang="en-GB" sz="3000" b="1" i="0" dirty="0">
                <a:solidFill>
                  <a:srgbClr val="141A45"/>
                </a:solidFill>
                <a:latin typeface="Cambria"/>
              </a:rPr>
              <a:t>Motivation</a:t>
            </a:r>
            <a:endParaRPr sz="3000" b="1" i="0" dirty="0">
              <a:solidFill>
                <a:srgbClr val="141A45"/>
              </a:solidFill>
              <a:latin typeface="Cambria"/>
            </a:endParaRPr>
          </a:p>
        </p:txBody>
      </p:sp>
      <p:sp>
        <p:nvSpPr>
          <p:cNvPr id="5" name="TextBox 4"/>
          <p:cNvSpPr txBox="1"/>
          <p:nvPr/>
        </p:nvSpPr>
        <p:spPr>
          <a:xfrm>
            <a:off x="548639" y="1512518"/>
            <a:ext cx="5558939" cy="3233001"/>
          </a:xfrm>
          <a:prstGeom prst="rect">
            <a:avLst/>
          </a:prstGeom>
          <a:noFill/>
        </p:spPr>
        <p:txBody>
          <a:bodyPr wrap="square" lIns="0" tIns="0" rIns="0" bIns="0">
            <a:spAutoFit/>
          </a:bodyPr>
          <a:lstStyle/>
          <a:p>
            <a:pPr marL="228600" indent="-228600">
              <a:lnSpc>
                <a:spcPct val="115000"/>
              </a:lnSpc>
              <a:spcAft>
                <a:spcPts val="1300"/>
              </a:spcAft>
              <a:buFont typeface="Arial"/>
              <a:buChar char="–"/>
            </a:pPr>
            <a:r>
              <a:rPr lang="en-GB" altLang="zh-CN" sz="1600" dirty="0">
                <a:solidFill>
                  <a:srgbClr val="232633"/>
                </a:solidFill>
              </a:rPr>
              <a:t>Background: Oil prices affect inflation, energy costs, and trade — so better short-term forecasts matter for markets and policy.</a:t>
            </a:r>
          </a:p>
          <a:p>
            <a:pPr marL="228600" indent="-228600">
              <a:lnSpc>
                <a:spcPct val="115000"/>
              </a:lnSpc>
              <a:spcAft>
                <a:spcPts val="1300"/>
              </a:spcAft>
              <a:buFont typeface="Arial"/>
              <a:buChar char="–"/>
            </a:pPr>
            <a:r>
              <a:rPr lang="en-GB" altLang="zh-CN" sz="1600" dirty="0">
                <a:solidFill>
                  <a:srgbClr val="232633"/>
                </a:solidFill>
              </a:rPr>
              <a:t>Motivation: Beyond finance and macro signals, satellite images of oil ports and shipping data on chokepoints and traffic might hint at supply-and-demand shifts before price reacts.</a:t>
            </a:r>
            <a:endParaRPr lang="en-US" sz="1600" dirty="0">
              <a:solidFill>
                <a:srgbClr val="232633"/>
              </a:solidFill>
            </a:endParaRPr>
          </a:p>
          <a:p>
            <a:pPr marL="228600" indent="-228600">
              <a:lnSpc>
                <a:spcPct val="115000"/>
              </a:lnSpc>
              <a:spcAft>
                <a:spcPts val="1300"/>
              </a:spcAft>
              <a:buFont typeface="Arial"/>
              <a:buChar char="–"/>
            </a:pPr>
            <a:r>
              <a:rPr lang="en-GB" altLang="zh-CN" sz="1600" dirty="0">
                <a:solidFill>
                  <a:srgbClr val="232633"/>
                </a:solidFill>
              </a:rPr>
              <a:t>Target: </a:t>
            </a:r>
            <a:r>
              <a:rPr lang="en-GB" altLang="zh-CN" sz="1600" b="1" dirty="0">
                <a:solidFill>
                  <a:srgbClr val="C00000"/>
                </a:solidFill>
              </a:rPr>
              <a:t>Next-week Brent Price </a:t>
            </a:r>
            <a:r>
              <a:rPr lang="en-GB" altLang="zh-CN" sz="1600" dirty="0">
                <a:solidFill>
                  <a:srgbClr val="232633"/>
                </a:solidFill>
              </a:rPr>
              <a:t>(weekly).</a:t>
            </a:r>
          </a:p>
          <a:p>
            <a:pPr marL="228600" indent="-228600">
              <a:lnSpc>
                <a:spcPct val="118000"/>
              </a:lnSpc>
              <a:spcAft>
                <a:spcPts val="1600"/>
              </a:spcAft>
              <a:buFont typeface="Arial"/>
              <a:buChar char="–"/>
            </a:pPr>
            <a:r>
              <a:rPr lang="en-US" sz="1600" dirty="0">
                <a:solidFill>
                  <a:srgbClr val="232633"/>
                </a:solidFill>
              </a:rPr>
              <a:t>Strong</a:t>
            </a:r>
            <a:r>
              <a:rPr lang="zh-CN" altLang="en-US" sz="1600" dirty="0">
                <a:solidFill>
                  <a:srgbClr val="232633"/>
                </a:solidFill>
              </a:rPr>
              <a:t> </a:t>
            </a:r>
            <a:r>
              <a:rPr lang="en-US" altLang="zh-CN" sz="1600" dirty="0">
                <a:solidFill>
                  <a:srgbClr val="232633"/>
                </a:solidFill>
              </a:rPr>
              <a:t>Baseline</a:t>
            </a:r>
            <a:r>
              <a:rPr lang="en-US" altLang="zh-CN" sz="1500" dirty="0">
                <a:solidFill>
                  <a:srgbClr val="232633"/>
                </a:solidFill>
                <a:latin typeface="Calibri"/>
              </a:rPr>
              <a:t>: </a:t>
            </a:r>
            <a:r>
              <a:rPr lang="en-GB" altLang="zh-CN" sz="1600" b="1" dirty="0">
                <a:solidFill>
                  <a:srgbClr val="232633"/>
                </a:solidFill>
                <a:latin typeface="Calibri"/>
              </a:rPr>
              <a:t>S</a:t>
            </a:r>
            <a:r>
              <a:rPr lang="en-GB" altLang="zh-CN" sz="1600" b="1" dirty="0">
                <a:solidFill>
                  <a:srgbClr val="232633"/>
                </a:solidFill>
              </a:rPr>
              <a:t>ame as last week</a:t>
            </a:r>
          </a:p>
          <a:p>
            <a:pPr marL="228600" indent="-228600">
              <a:lnSpc>
                <a:spcPct val="118000"/>
              </a:lnSpc>
              <a:spcAft>
                <a:spcPts val="1600"/>
              </a:spcAft>
              <a:buFont typeface="Arial"/>
              <a:buChar char="–"/>
            </a:pPr>
            <a:endParaRPr sz="1500" dirty="0">
              <a:solidFill>
                <a:srgbClr val="232633"/>
              </a:solidFill>
              <a:latin typeface="Calibri"/>
            </a:endParaRPr>
          </a:p>
        </p:txBody>
      </p:sp>
      <p:sp>
        <p:nvSpPr>
          <p:cNvPr id="14" name="TextBox 13"/>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Aft>
                <a:spcPts val="0"/>
              </a:spcAft>
            </a:pPr>
            <a:r>
              <a:rPr sz="950" b="0" i="0">
                <a:solidFill>
                  <a:srgbClr val="5B6070"/>
                </a:solidFill>
                <a:latin typeface="Calibri"/>
              </a:rPr>
              <a:t>1</a:t>
            </a:r>
          </a:p>
        </p:txBody>
      </p:sp>
      <p:cxnSp>
        <p:nvCxnSpPr>
          <p:cNvPr id="16" name="Connector 6">
            <a:extLst>
              <a:ext uri="{FF2B5EF4-FFF2-40B4-BE49-F238E27FC236}">
                <a16:creationId xmlns:a16="http://schemas.microsoft.com/office/drawing/2014/main" id="{72FCAC31-3CD3-8327-6996-A2C4B80D49F1}"/>
              </a:ext>
            </a:extLst>
          </p:cNvPr>
          <p:cNvCxnSpPr>
            <a:cxnSpLocks/>
          </p:cNvCxnSpPr>
          <p:nvPr/>
        </p:nvCxnSpPr>
        <p:spPr>
          <a:xfrm>
            <a:off x="8950397" y="2007795"/>
            <a:ext cx="0" cy="201168"/>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8">
            <a:extLst>
              <a:ext uri="{FF2B5EF4-FFF2-40B4-BE49-F238E27FC236}">
                <a16:creationId xmlns:a16="http://schemas.microsoft.com/office/drawing/2014/main" id="{9ACA0070-18B0-F20D-77EB-CF9A9E39D537}"/>
              </a:ext>
            </a:extLst>
          </p:cNvPr>
          <p:cNvCxnSpPr>
            <a:cxnSpLocks/>
          </p:cNvCxnSpPr>
          <p:nvPr/>
        </p:nvCxnSpPr>
        <p:spPr>
          <a:xfrm>
            <a:off x="8950397" y="3140269"/>
            <a:ext cx="0" cy="201168"/>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6" name="组合 35">
            <a:extLst>
              <a:ext uri="{FF2B5EF4-FFF2-40B4-BE49-F238E27FC236}">
                <a16:creationId xmlns:a16="http://schemas.microsoft.com/office/drawing/2014/main" id="{CD2D77B5-1FA1-1E24-E0F6-7D4C0022BE98}"/>
              </a:ext>
            </a:extLst>
          </p:cNvPr>
          <p:cNvGrpSpPr/>
          <p:nvPr/>
        </p:nvGrpSpPr>
        <p:grpSpPr>
          <a:xfrm>
            <a:off x="548640" y="4669142"/>
            <a:ext cx="10789920" cy="512064"/>
            <a:chOff x="548640" y="4756824"/>
            <a:chExt cx="10789920" cy="512064"/>
          </a:xfrm>
        </p:grpSpPr>
        <p:sp>
          <p:nvSpPr>
            <p:cNvPr id="31" name="Rounded Rectangle 15">
              <a:extLst>
                <a:ext uri="{FF2B5EF4-FFF2-40B4-BE49-F238E27FC236}">
                  <a16:creationId xmlns:a16="http://schemas.microsoft.com/office/drawing/2014/main" id="{A48C9547-1D8E-088D-148C-08476CD35C58}"/>
                </a:ext>
              </a:extLst>
            </p:cNvPr>
            <p:cNvSpPr/>
            <p:nvPr/>
          </p:nvSpPr>
          <p:spPr>
            <a:xfrm>
              <a:off x="548640" y="4756824"/>
              <a:ext cx="10789920" cy="512064"/>
            </a:xfrm>
            <a:prstGeom prst="roundRect">
              <a:avLst>
                <a:gd name="adj" fmla="val 10000"/>
              </a:avLst>
            </a:prstGeom>
            <a:solidFill>
              <a:srgbClr val="F7F8FA"/>
            </a:solidFill>
            <a:ln w="12700">
              <a:solidFill>
                <a:srgbClr val="D7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4">
              <a:extLst>
                <a:ext uri="{FF2B5EF4-FFF2-40B4-BE49-F238E27FC236}">
                  <a16:creationId xmlns:a16="http://schemas.microsoft.com/office/drawing/2014/main" id="{BE825578-792D-66E9-69D6-0F9F95EFEEE9}"/>
                </a:ext>
              </a:extLst>
            </p:cNvPr>
            <p:cNvSpPr/>
            <p:nvPr/>
          </p:nvSpPr>
          <p:spPr>
            <a:xfrm>
              <a:off x="563727" y="4756824"/>
              <a:ext cx="566928" cy="512064"/>
            </a:xfrm>
            <a:prstGeom prst="roundRect">
              <a:avLst>
                <a:gd name="adj" fmla="val 12000"/>
              </a:avLst>
            </a:prstGeom>
            <a:solidFill>
              <a:srgbClr val="1E2761"/>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dirty="0">
                  <a:solidFill>
                    <a:srgbClr val="FFFFFF"/>
                  </a:solidFill>
                  <a:latin typeface="Calibri"/>
                </a:rPr>
                <a:t>Q1</a:t>
              </a:r>
            </a:p>
          </p:txBody>
        </p:sp>
        <p:sp>
          <p:nvSpPr>
            <p:cNvPr id="21" name="TextBox 5">
              <a:extLst>
                <a:ext uri="{FF2B5EF4-FFF2-40B4-BE49-F238E27FC236}">
                  <a16:creationId xmlns:a16="http://schemas.microsoft.com/office/drawing/2014/main" id="{49E67962-18A2-EBFC-8A7F-24829B3D28CD}"/>
                </a:ext>
              </a:extLst>
            </p:cNvPr>
            <p:cNvSpPr txBox="1"/>
            <p:nvPr/>
          </p:nvSpPr>
          <p:spPr>
            <a:xfrm>
              <a:off x="1249527" y="4843579"/>
              <a:ext cx="9468440" cy="338554"/>
            </a:xfrm>
            <a:prstGeom prst="rect">
              <a:avLst/>
            </a:prstGeom>
            <a:noFill/>
          </p:spPr>
          <p:txBody>
            <a:bodyPr wrap="square" anchor="ctr">
              <a:spAutoFit/>
            </a:bodyPr>
            <a:lstStyle/>
            <a:p>
              <a:r>
                <a:rPr sz="1600" dirty="0">
                  <a:solidFill>
                    <a:srgbClr val="232633"/>
                  </a:solidFill>
                  <a:latin typeface="Calibri"/>
                </a:rPr>
                <a:t>On top of finance </a:t>
              </a:r>
              <a:r>
                <a:rPr lang="en-US" altLang="zh-CN" sz="1600" dirty="0">
                  <a:solidFill>
                    <a:srgbClr val="232633"/>
                  </a:solidFill>
                  <a:latin typeface="Calibri"/>
                </a:rPr>
                <a:t>data</a:t>
              </a:r>
              <a:r>
                <a:rPr lang="zh-CN" altLang="en-US" sz="1600" dirty="0">
                  <a:solidFill>
                    <a:srgbClr val="232633"/>
                  </a:solidFill>
                  <a:latin typeface="Calibri"/>
                </a:rPr>
                <a:t> </a:t>
              </a:r>
              <a:r>
                <a:rPr sz="1600" dirty="0">
                  <a:solidFill>
                    <a:srgbClr val="232633"/>
                  </a:solidFill>
                  <a:latin typeface="Calibri"/>
                </a:rPr>
                <a:t>alone, do satellite and shipping data add real predictive value?</a:t>
              </a:r>
            </a:p>
          </p:txBody>
        </p:sp>
      </p:grpSp>
      <p:grpSp>
        <p:nvGrpSpPr>
          <p:cNvPr id="34" name="组合 33">
            <a:extLst>
              <a:ext uri="{FF2B5EF4-FFF2-40B4-BE49-F238E27FC236}">
                <a16:creationId xmlns:a16="http://schemas.microsoft.com/office/drawing/2014/main" id="{B740320F-032C-6287-3851-EA2E83129413}"/>
              </a:ext>
            </a:extLst>
          </p:cNvPr>
          <p:cNvGrpSpPr/>
          <p:nvPr/>
        </p:nvGrpSpPr>
        <p:grpSpPr>
          <a:xfrm>
            <a:off x="548640" y="5275106"/>
            <a:ext cx="10789920" cy="512064"/>
            <a:chOff x="548640" y="5352000"/>
            <a:chExt cx="10789920" cy="512064"/>
          </a:xfrm>
        </p:grpSpPr>
        <p:sp>
          <p:nvSpPr>
            <p:cNvPr id="32" name="Rounded Rectangle 15">
              <a:extLst>
                <a:ext uri="{FF2B5EF4-FFF2-40B4-BE49-F238E27FC236}">
                  <a16:creationId xmlns:a16="http://schemas.microsoft.com/office/drawing/2014/main" id="{6975A3AB-53B6-FE58-F6B1-9A547EB5C555}"/>
                </a:ext>
              </a:extLst>
            </p:cNvPr>
            <p:cNvSpPr/>
            <p:nvPr/>
          </p:nvSpPr>
          <p:spPr>
            <a:xfrm>
              <a:off x="548640" y="5352000"/>
              <a:ext cx="10789920" cy="512064"/>
            </a:xfrm>
            <a:prstGeom prst="roundRect">
              <a:avLst>
                <a:gd name="adj" fmla="val 10000"/>
              </a:avLst>
            </a:prstGeom>
            <a:solidFill>
              <a:srgbClr val="F7F8FA"/>
            </a:solidFill>
            <a:ln w="12700">
              <a:solidFill>
                <a:srgbClr val="D7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6">
              <a:extLst>
                <a:ext uri="{FF2B5EF4-FFF2-40B4-BE49-F238E27FC236}">
                  <a16:creationId xmlns:a16="http://schemas.microsoft.com/office/drawing/2014/main" id="{AFB1601F-F03B-18D1-C33E-6A1E80AECFF6}"/>
                </a:ext>
              </a:extLst>
            </p:cNvPr>
            <p:cNvSpPr/>
            <p:nvPr/>
          </p:nvSpPr>
          <p:spPr>
            <a:xfrm>
              <a:off x="563727" y="5352000"/>
              <a:ext cx="566928" cy="512064"/>
            </a:xfrm>
            <a:prstGeom prst="roundRect">
              <a:avLst>
                <a:gd name="adj" fmla="val 12000"/>
              </a:avLst>
            </a:prstGeom>
            <a:solidFill>
              <a:srgbClr val="1E2761"/>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Q2</a:t>
              </a:r>
            </a:p>
          </p:txBody>
        </p:sp>
        <p:sp>
          <p:nvSpPr>
            <p:cNvPr id="23" name="TextBox 7">
              <a:extLst>
                <a:ext uri="{FF2B5EF4-FFF2-40B4-BE49-F238E27FC236}">
                  <a16:creationId xmlns:a16="http://schemas.microsoft.com/office/drawing/2014/main" id="{2798F2EA-8E71-5F7B-363E-062AAB987EEB}"/>
                </a:ext>
              </a:extLst>
            </p:cNvPr>
            <p:cNvSpPr txBox="1"/>
            <p:nvPr/>
          </p:nvSpPr>
          <p:spPr>
            <a:xfrm>
              <a:off x="1249527" y="5438138"/>
              <a:ext cx="9948125" cy="339788"/>
            </a:xfrm>
            <a:prstGeom prst="rect">
              <a:avLst/>
            </a:prstGeom>
            <a:noFill/>
          </p:spPr>
          <p:txBody>
            <a:bodyPr wrap="square" anchor="ctr">
              <a:spAutoFit/>
            </a:bodyPr>
            <a:lstStyle/>
            <a:p>
              <a:r>
                <a:rPr sz="1600" dirty="0">
                  <a:solidFill>
                    <a:srgbClr val="232633"/>
                  </a:solidFill>
                  <a:latin typeface="Calibri"/>
                </a:rPr>
                <a:t>Does learning each data type separately, then combining them, work better than just adding everything as columns</a:t>
              </a:r>
              <a:r>
                <a:rPr sz="1350" dirty="0">
                  <a:solidFill>
                    <a:srgbClr val="232633"/>
                  </a:solidFill>
                  <a:latin typeface="Calibri"/>
                </a:rPr>
                <a:t>?</a:t>
              </a:r>
            </a:p>
          </p:txBody>
        </p:sp>
      </p:grpSp>
      <p:grpSp>
        <p:nvGrpSpPr>
          <p:cNvPr id="35" name="组合 34">
            <a:extLst>
              <a:ext uri="{FF2B5EF4-FFF2-40B4-BE49-F238E27FC236}">
                <a16:creationId xmlns:a16="http://schemas.microsoft.com/office/drawing/2014/main" id="{EDC6B0B4-33BF-DC7C-738B-0090789BFEEB}"/>
              </a:ext>
            </a:extLst>
          </p:cNvPr>
          <p:cNvGrpSpPr/>
          <p:nvPr/>
        </p:nvGrpSpPr>
        <p:grpSpPr>
          <a:xfrm>
            <a:off x="548640" y="5881069"/>
            <a:ext cx="10789920" cy="512064"/>
            <a:chOff x="548640" y="5968751"/>
            <a:chExt cx="10789920" cy="512064"/>
          </a:xfrm>
        </p:grpSpPr>
        <p:sp>
          <p:nvSpPr>
            <p:cNvPr id="33" name="Rounded Rectangle 15">
              <a:extLst>
                <a:ext uri="{FF2B5EF4-FFF2-40B4-BE49-F238E27FC236}">
                  <a16:creationId xmlns:a16="http://schemas.microsoft.com/office/drawing/2014/main" id="{1311D865-1FB6-EBF8-ED44-A616C0639559}"/>
                </a:ext>
              </a:extLst>
            </p:cNvPr>
            <p:cNvSpPr/>
            <p:nvPr/>
          </p:nvSpPr>
          <p:spPr>
            <a:xfrm>
              <a:off x="548640" y="5968751"/>
              <a:ext cx="10789920" cy="512064"/>
            </a:xfrm>
            <a:prstGeom prst="roundRect">
              <a:avLst>
                <a:gd name="adj" fmla="val 10000"/>
              </a:avLst>
            </a:prstGeom>
            <a:solidFill>
              <a:srgbClr val="F7F8FA"/>
            </a:solidFill>
            <a:ln w="12700">
              <a:solidFill>
                <a:srgbClr val="D7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8">
              <a:extLst>
                <a:ext uri="{FF2B5EF4-FFF2-40B4-BE49-F238E27FC236}">
                  <a16:creationId xmlns:a16="http://schemas.microsoft.com/office/drawing/2014/main" id="{03790AC0-D5B7-35DD-A17F-451C739156D6}"/>
                </a:ext>
              </a:extLst>
            </p:cNvPr>
            <p:cNvSpPr/>
            <p:nvPr/>
          </p:nvSpPr>
          <p:spPr>
            <a:xfrm>
              <a:off x="563727" y="5968751"/>
              <a:ext cx="566928" cy="512064"/>
            </a:xfrm>
            <a:prstGeom prst="roundRect">
              <a:avLst>
                <a:gd name="adj" fmla="val 12000"/>
              </a:avLst>
            </a:prstGeom>
            <a:solidFill>
              <a:srgbClr val="1E2761"/>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Q3</a:t>
              </a:r>
            </a:p>
          </p:txBody>
        </p:sp>
        <p:sp>
          <p:nvSpPr>
            <p:cNvPr id="25" name="TextBox 9">
              <a:extLst>
                <a:ext uri="{FF2B5EF4-FFF2-40B4-BE49-F238E27FC236}">
                  <a16:creationId xmlns:a16="http://schemas.microsoft.com/office/drawing/2014/main" id="{3208DEC6-8928-7379-69C6-87D9AAF1B6EE}"/>
                </a:ext>
              </a:extLst>
            </p:cNvPr>
            <p:cNvSpPr txBox="1"/>
            <p:nvPr/>
          </p:nvSpPr>
          <p:spPr>
            <a:xfrm>
              <a:off x="1249527" y="6055506"/>
              <a:ext cx="9798224" cy="338554"/>
            </a:xfrm>
            <a:prstGeom prst="rect">
              <a:avLst/>
            </a:prstGeom>
            <a:noFill/>
          </p:spPr>
          <p:txBody>
            <a:bodyPr wrap="square" anchor="ctr">
              <a:spAutoFit/>
            </a:bodyPr>
            <a:lstStyle/>
            <a:p>
              <a:r>
                <a:rPr lang="en-US" altLang="zh-CN" sz="1600" dirty="0">
                  <a:solidFill>
                    <a:srgbClr val="232633"/>
                  </a:solidFill>
                  <a:latin typeface="Calibri"/>
                </a:rPr>
                <a:t>Which</a:t>
              </a:r>
              <a:r>
                <a:rPr lang="zh-CN" altLang="en-US" sz="1600" dirty="0">
                  <a:solidFill>
                    <a:srgbClr val="232633"/>
                  </a:solidFill>
                  <a:latin typeface="Calibri"/>
                </a:rPr>
                <a:t> </a:t>
              </a:r>
              <a:r>
                <a:rPr sz="1600" dirty="0">
                  <a:solidFill>
                    <a:srgbClr val="232633"/>
                  </a:solidFill>
                  <a:latin typeface="Calibri"/>
                </a:rPr>
                <a:t>data type matters more?</a:t>
              </a:r>
            </a:p>
          </p:txBody>
        </p:sp>
      </p:grpSp>
      <p:sp>
        <p:nvSpPr>
          <p:cNvPr id="28" name="Rounded Rectangle 5">
            <a:extLst>
              <a:ext uri="{FF2B5EF4-FFF2-40B4-BE49-F238E27FC236}">
                <a16:creationId xmlns:a16="http://schemas.microsoft.com/office/drawing/2014/main" id="{66F37A94-C73B-6697-A119-375F96B3C22B}"/>
              </a:ext>
            </a:extLst>
          </p:cNvPr>
          <p:cNvSpPr/>
          <p:nvPr/>
        </p:nvSpPr>
        <p:spPr>
          <a:xfrm>
            <a:off x="6728177" y="1070498"/>
            <a:ext cx="4671190" cy="900000"/>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dirty="0">
                <a:solidFill>
                  <a:srgbClr val="1E2761"/>
                </a:solidFill>
                <a:latin typeface="Calibri"/>
              </a:rPr>
              <a:t>STEP 1</a:t>
            </a:r>
          </a:p>
          <a:p>
            <a:pPr algn="ctr">
              <a:spcBef>
                <a:spcPts val="100"/>
              </a:spcBef>
            </a:pPr>
            <a:r>
              <a:rPr sz="1600" dirty="0">
                <a:solidFill>
                  <a:srgbClr val="232633"/>
                </a:solidFill>
                <a:latin typeface="Calibri"/>
              </a:rPr>
              <a:t>Does this extra data actually help at all?</a:t>
            </a:r>
          </a:p>
        </p:txBody>
      </p:sp>
      <p:sp>
        <p:nvSpPr>
          <p:cNvPr id="29" name="Rounded Rectangle 7">
            <a:extLst>
              <a:ext uri="{FF2B5EF4-FFF2-40B4-BE49-F238E27FC236}">
                <a16:creationId xmlns:a16="http://schemas.microsoft.com/office/drawing/2014/main" id="{BFF4B95E-87B5-8F70-B05D-95CCF2A0941D}"/>
              </a:ext>
            </a:extLst>
          </p:cNvPr>
          <p:cNvSpPr/>
          <p:nvPr/>
        </p:nvSpPr>
        <p:spPr>
          <a:xfrm>
            <a:off x="6728177" y="2223953"/>
            <a:ext cx="4671189" cy="900000"/>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dirty="0">
                <a:solidFill>
                  <a:srgbClr val="1E2761"/>
                </a:solidFill>
                <a:latin typeface="Calibri"/>
              </a:rPr>
              <a:t>STEP 2</a:t>
            </a:r>
          </a:p>
          <a:p>
            <a:pPr algn="ctr">
              <a:spcBef>
                <a:spcPts val="100"/>
              </a:spcBef>
            </a:pPr>
            <a:r>
              <a:rPr sz="1400" dirty="0">
                <a:solidFill>
                  <a:srgbClr val="232633"/>
                </a:solidFill>
                <a:latin typeface="Calibri"/>
              </a:rPr>
              <a:t>If yes — is it enough to just add it as
extra columns into the model?</a:t>
            </a:r>
          </a:p>
        </p:txBody>
      </p:sp>
      <p:sp>
        <p:nvSpPr>
          <p:cNvPr id="30" name="Rounded Rectangle 9">
            <a:extLst>
              <a:ext uri="{FF2B5EF4-FFF2-40B4-BE49-F238E27FC236}">
                <a16:creationId xmlns:a16="http://schemas.microsoft.com/office/drawing/2014/main" id="{FC68F24F-A52F-5756-53E0-CB38275C3C69}"/>
              </a:ext>
            </a:extLst>
          </p:cNvPr>
          <p:cNvSpPr/>
          <p:nvPr/>
        </p:nvSpPr>
        <p:spPr>
          <a:xfrm>
            <a:off x="6728177" y="3392279"/>
            <a:ext cx="4672630" cy="900000"/>
          </a:xfrm>
          <a:prstGeom prst="roundRect">
            <a:avLst>
              <a:gd name="adj" fmla="val 12000"/>
            </a:avLst>
          </a:prstGeom>
          <a:solidFill>
            <a:srgbClr val="FDF4E3"/>
          </a:solidFill>
          <a:ln w="15875">
            <a:solidFill>
              <a:srgbClr val="B886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dirty="0">
                <a:solidFill>
                  <a:srgbClr val="1E2761"/>
                </a:solidFill>
                <a:latin typeface="Calibri"/>
              </a:rPr>
              <a:t>STEP 3</a:t>
            </a:r>
          </a:p>
          <a:p>
            <a:pPr algn="ctr">
              <a:spcBef>
                <a:spcPts val="100"/>
              </a:spcBef>
            </a:pPr>
            <a:r>
              <a:rPr sz="1400" dirty="0">
                <a:solidFill>
                  <a:srgbClr val="232633"/>
                </a:solidFill>
                <a:latin typeface="Calibri"/>
              </a:rPr>
              <a:t>If not — does it help to let each type of
data learn on its own first, then combine them?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3">
            <a:extLst>
              <a:ext uri="{FF2B5EF4-FFF2-40B4-BE49-F238E27FC236}">
                <a16:creationId xmlns:a16="http://schemas.microsoft.com/office/drawing/2014/main" id="{1EEADFEC-309A-E274-1467-1212512D7B5A}"/>
              </a:ext>
            </a:extLst>
          </p:cNvPr>
          <p:cNvSpPr txBox="1"/>
          <p:nvPr/>
        </p:nvSpPr>
        <p:spPr>
          <a:xfrm>
            <a:off x="365760" y="438912"/>
            <a:ext cx="11064240" cy="461665"/>
          </a:xfrm>
          <a:prstGeom prst="rect">
            <a:avLst/>
          </a:prstGeom>
          <a:noFill/>
        </p:spPr>
        <p:txBody>
          <a:bodyPr wrap="square" lIns="0" tIns="0" rIns="0" bIns="0" anchor="t">
            <a:spAutoFit/>
          </a:bodyPr>
          <a:lstStyle/>
          <a:p>
            <a:pPr algn="l">
              <a:lnSpc>
                <a:spcPct val="100000"/>
              </a:lnSpc>
              <a:spcAft>
                <a:spcPts val="0"/>
              </a:spcAft>
            </a:pPr>
            <a:r>
              <a:rPr lang="en-US" altLang="zh-CN" sz="3000" b="1" dirty="0">
                <a:solidFill>
                  <a:srgbClr val="141A45"/>
                </a:solidFill>
                <a:latin typeface="Cambria"/>
              </a:rPr>
              <a:t>R</a:t>
            </a:r>
            <a:r>
              <a:rPr sz="3000" b="1" i="0" dirty="0">
                <a:solidFill>
                  <a:srgbClr val="141A45"/>
                </a:solidFill>
                <a:latin typeface="Cambria"/>
              </a:rPr>
              <a:t>esearch </a:t>
            </a:r>
            <a:r>
              <a:rPr lang="en-US" altLang="zh-CN" sz="3000" b="1" i="0" dirty="0">
                <a:solidFill>
                  <a:srgbClr val="141A45"/>
                </a:solidFill>
                <a:latin typeface="Cambria"/>
              </a:rPr>
              <a:t>Structure</a:t>
            </a:r>
            <a:endParaRPr sz="3000" b="1" i="0" dirty="0">
              <a:solidFill>
                <a:srgbClr val="141A45"/>
              </a:solidFill>
              <a:latin typeface="Cambria"/>
            </a:endParaRPr>
          </a:p>
        </p:txBody>
      </p:sp>
      <p:sp>
        <p:nvSpPr>
          <p:cNvPr id="28" name="Rounded Rectangle 4">
            <a:extLst>
              <a:ext uri="{FF2B5EF4-FFF2-40B4-BE49-F238E27FC236}">
                <a16:creationId xmlns:a16="http://schemas.microsoft.com/office/drawing/2014/main" id="{60F63145-3B58-030D-D5EB-F713ED9A15E0}"/>
              </a:ext>
            </a:extLst>
          </p:cNvPr>
          <p:cNvSpPr/>
          <p:nvPr/>
        </p:nvSpPr>
        <p:spPr>
          <a:xfrm>
            <a:off x="4724400" y="999975"/>
            <a:ext cx="2743200" cy="566928"/>
          </a:xfrm>
          <a:prstGeom prst="roundRect">
            <a:avLst>
              <a:gd name="adj" fmla="val 12000"/>
            </a:avLst>
          </a:prstGeom>
          <a:solidFill>
            <a:srgbClr val="E9E9EC"/>
          </a:solidFill>
          <a:ln w="15875">
            <a:solidFill>
              <a:srgbClr val="5B607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232633"/>
                </a:solidFill>
                <a:latin typeface="Calibri"/>
              </a:rPr>
              <a:t>M0 </a:t>
            </a:r>
            <a:r>
              <a:rPr lang="zh-CN" altLang="en-US" sz="1600" b="1" dirty="0">
                <a:solidFill>
                  <a:srgbClr val="232633"/>
                </a:solidFill>
                <a:latin typeface="Calibri"/>
              </a:rPr>
              <a:t> </a:t>
            </a:r>
            <a:r>
              <a:rPr sz="1600" b="1" dirty="0">
                <a:solidFill>
                  <a:srgbClr val="232633"/>
                </a:solidFill>
                <a:latin typeface="Calibri"/>
              </a:rPr>
              <a:t> </a:t>
            </a:r>
            <a:r>
              <a:rPr lang="en-US" altLang="zh-CN" sz="1600" b="1" dirty="0">
                <a:solidFill>
                  <a:srgbClr val="232633"/>
                </a:solidFill>
                <a:latin typeface="Calibri"/>
              </a:rPr>
              <a:t>No-Change</a:t>
            </a:r>
            <a:r>
              <a:rPr lang="zh-CN" altLang="en-US" sz="1600" b="1" dirty="0">
                <a:solidFill>
                  <a:srgbClr val="232633"/>
                </a:solidFill>
                <a:latin typeface="Calibri"/>
              </a:rPr>
              <a:t> </a:t>
            </a:r>
            <a:r>
              <a:rPr lang="en-US" altLang="zh-CN" sz="1600" b="1" dirty="0">
                <a:solidFill>
                  <a:srgbClr val="232633"/>
                </a:solidFill>
                <a:latin typeface="Calibri"/>
              </a:rPr>
              <a:t>Forecast</a:t>
            </a:r>
            <a:endParaRPr sz="1600" b="1" dirty="0">
              <a:solidFill>
                <a:srgbClr val="232633"/>
              </a:solidFill>
              <a:latin typeface="Calibri"/>
            </a:endParaRPr>
          </a:p>
        </p:txBody>
      </p:sp>
      <p:sp>
        <p:nvSpPr>
          <p:cNvPr id="30" name="Rounded Rectangle 6">
            <a:extLst>
              <a:ext uri="{FF2B5EF4-FFF2-40B4-BE49-F238E27FC236}">
                <a16:creationId xmlns:a16="http://schemas.microsoft.com/office/drawing/2014/main" id="{B082376C-71A9-34B7-5FDD-A567AE2257FC}"/>
              </a:ext>
            </a:extLst>
          </p:cNvPr>
          <p:cNvSpPr/>
          <p:nvPr/>
        </p:nvSpPr>
        <p:spPr>
          <a:xfrm>
            <a:off x="381000" y="1792152"/>
            <a:ext cx="11155680" cy="1774164"/>
          </a:xfrm>
          <a:prstGeom prst="roundRect">
            <a:avLst>
              <a:gd name="adj" fmla="val 6000"/>
            </a:avLst>
          </a:prstGeom>
          <a:solidFill>
            <a:srgbClr val="F7F8FA"/>
          </a:solidFill>
          <a:ln w="12700">
            <a:solidFill>
              <a:srgbClr val="D7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7">
            <a:extLst>
              <a:ext uri="{FF2B5EF4-FFF2-40B4-BE49-F238E27FC236}">
                <a16:creationId xmlns:a16="http://schemas.microsoft.com/office/drawing/2014/main" id="{04640428-21FE-ECA4-A428-3357CDCA20EA}"/>
              </a:ext>
            </a:extLst>
          </p:cNvPr>
          <p:cNvSpPr txBox="1"/>
          <p:nvPr/>
        </p:nvSpPr>
        <p:spPr>
          <a:xfrm>
            <a:off x="603504" y="1957746"/>
            <a:ext cx="3657600" cy="246221"/>
          </a:xfrm>
          <a:prstGeom prst="rect">
            <a:avLst/>
          </a:prstGeom>
          <a:noFill/>
        </p:spPr>
        <p:txBody>
          <a:bodyPr wrap="square" lIns="0" tIns="0" rIns="0" bIns="0" anchor="t">
            <a:spAutoFit/>
          </a:bodyPr>
          <a:lstStyle/>
          <a:p>
            <a:pPr algn="l">
              <a:lnSpc>
                <a:spcPct val="100000"/>
              </a:lnSpc>
              <a:spcAft>
                <a:spcPts val="0"/>
              </a:spcAft>
            </a:pPr>
            <a:r>
              <a:rPr sz="1600" b="1" i="0" dirty="0">
                <a:solidFill>
                  <a:srgbClr val="1E2761"/>
                </a:solidFill>
                <a:latin typeface="Calibri"/>
              </a:rPr>
              <a:t>FLAT LAYER  (feature concatenation)</a:t>
            </a:r>
          </a:p>
        </p:txBody>
      </p:sp>
      <p:sp>
        <p:nvSpPr>
          <p:cNvPr id="32" name="Rounded Rectangle 8">
            <a:extLst>
              <a:ext uri="{FF2B5EF4-FFF2-40B4-BE49-F238E27FC236}">
                <a16:creationId xmlns:a16="http://schemas.microsoft.com/office/drawing/2014/main" id="{5D16992D-70A9-EEE1-3FD6-17D5940AD775}"/>
              </a:ext>
            </a:extLst>
          </p:cNvPr>
          <p:cNvSpPr/>
          <p:nvPr/>
        </p:nvSpPr>
        <p:spPr>
          <a:xfrm>
            <a:off x="603504" y="2562401"/>
            <a:ext cx="2468880" cy="703046"/>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M1</a:t>
            </a:r>
          </a:p>
          <a:p>
            <a:pPr algn="ctr">
              <a:spcBef>
                <a:spcPts val="100"/>
              </a:spcBef>
            </a:pPr>
            <a:r>
              <a:rPr sz="1600" dirty="0">
                <a:solidFill>
                  <a:srgbClr val="5B6070"/>
                </a:solidFill>
              </a:rPr>
              <a:t>Finance</a:t>
            </a:r>
          </a:p>
        </p:txBody>
      </p:sp>
      <p:sp>
        <p:nvSpPr>
          <p:cNvPr id="33" name="Rounded Rectangle 9">
            <a:extLst>
              <a:ext uri="{FF2B5EF4-FFF2-40B4-BE49-F238E27FC236}">
                <a16:creationId xmlns:a16="http://schemas.microsoft.com/office/drawing/2014/main" id="{F501607A-1B93-3596-301A-0F122A447C12}"/>
              </a:ext>
            </a:extLst>
          </p:cNvPr>
          <p:cNvSpPr/>
          <p:nvPr/>
        </p:nvSpPr>
        <p:spPr>
          <a:xfrm>
            <a:off x="4861560" y="1993320"/>
            <a:ext cx="2468880" cy="606401"/>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M2</a:t>
            </a:r>
          </a:p>
          <a:p>
            <a:pPr algn="ctr">
              <a:spcBef>
                <a:spcPts val="100"/>
              </a:spcBef>
            </a:pPr>
            <a:r>
              <a:rPr sz="1600" dirty="0">
                <a:solidFill>
                  <a:srgbClr val="5B6070"/>
                </a:solidFill>
                <a:latin typeface="Calibri"/>
              </a:rPr>
              <a:t>Finance + RS</a:t>
            </a:r>
          </a:p>
        </p:txBody>
      </p:sp>
      <p:sp>
        <p:nvSpPr>
          <p:cNvPr id="34" name="Rounded Rectangle 10">
            <a:extLst>
              <a:ext uri="{FF2B5EF4-FFF2-40B4-BE49-F238E27FC236}">
                <a16:creationId xmlns:a16="http://schemas.microsoft.com/office/drawing/2014/main" id="{D7AF96D2-6EC8-B28D-02F6-F1BB14CE9478}"/>
              </a:ext>
            </a:extLst>
          </p:cNvPr>
          <p:cNvSpPr/>
          <p:nvPr/>
        </p:nvSpPr>
        <p:spPr>
          <a:xfrm>
            <a:off x="4861560" y="2864640"/>
            <a:ext cx="2468880" cy="606401"/>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M3</a:t>
            </a:r>
          </a:p>
          <a:p>
            <a:pPr algn="ctr">
              <a:spcBef>
                <a:spcPts val="100"/>
              </a:spcBef>
            </a:pPr>
            <a:r>
              <a:rPr sz="1600" dirty="0">
                <a:solidFill>
                  <a:srgbClr val="5B6070"/>
                </a:solidFill>
                <a:latin typeface="Calibri"/>
              </a:rPr>
              <a:t>Finance + Shipping</a:t>
            </a:r>
          </a:p>
        </p:txBody>
      </p:sp>
      <p:sp>
        <p:nvSpPr>
          <p:cNvPr id="35" name="Rounded Rectangle 11">
            <a:extLst>
              <a:ext uri="{FF2B5EF4-FFF2-40B4-BE49-F238E27FC236}">
                <a16:creationId xmlns:a16="http://schemas.microsoft.com/office/drawing/2014/main" id="{22006CE8-D002-86C3-8CBE-E24DA239F0DF}"/>
              </a:ext>
            </a:extLst>
          </p:cNvPr>
          <p:cNvSpPr/>
          <p:nvPr/>
        </p:nvSpPr>
        <p:spPr>
          <a:xfrm>
            <a:off x="8813062" y="2562401"/>
            <a:ext cx="2469600" cy="703046"/>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M4</a:t>
            </a:r>
          </a:p>
          <a:p>
            <a:pPr algn="ctr">
              <a:spcBef>
                <a:spcPts val="100"/>
              </a:spcBef>
            </a:pPr>
            <a:r>
              <a:rPr sz="1600" dirty="0">
                <a:solidFill>
                  <a:srgbClr val="5B6070"/>
                </a:solidFill>
                <a:latin typeface="Calibri"/>
              </a:rPr>
              <a:t>Finance + RS + Shipping</a:t>
            </a:r>
          </a:p>
        </p:txBody>
      </p:sp>
      <p:cxnSp>
        <p:nvCxnSpPr>
          <p:cNvPr id="36" name="Connector 12">
            <a:extLst>
              <a:ext uri="{FF2B5EF4-FFF2-40B4-BE49-F238E27FC236}">
                <a16:creationId xmlns:a16="http://schemas.microsoft.com/office/drawing/2014/main" id="{CE528D33-E44B-4665-88D6-6C4D7AD408C1}"/>
              </a:ext>
            </a:extLst>
          </p:cNvPr>
          <p:cNvCxnSpPr>
            <a:cxnSpLocks/>
          </p:cNvCxnSpPr>
          <p:nvPr/>
        </p:nvCxnSpPr>
        <p:spPr>
          <a:xfrm>
            <a:off x="6096000" y="3594839"/>
            <a:ext cx="0" cy="201168"/>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13">
            <a:extLst>
              <a:ext uri="{FF2B5EF4-FFF2-40B4-BE49-F238E27FC236}">
                <a16:creationId xmlns:a16="http://schemas.microsoft.com/office/drawing/2014/main" id="{90E300C0-75D0-5452-DEC6-CE6E3E36E7B2}"/>
              </a:ext>
            </a:extLst>
          </p:cNvPr>
          <p:cNvSpPr/>
          <p:nvPr/>
        </p:nvSpPr>
        <p:spPr>
          <a:xfrm>
            <a:off x="365760" y="3849181"/>
            <a:ext cx="11155680" cy="2808021"/>
          </a:xfrm>
          <a:prstGeom prst="roundRect">
            <a:avLst>
              <a:gd name="adj" fmla="val 6000"/>
            </a:avLst>
          </a:prstGeom>
          <a:solidFill>
            <a:srgbClr val="EEF1FA"/>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4">
            <a:extLst>
              <a:ext uri="{FF2B5EF4-FFF2-40B4-BE49-F238E27FC236}">
                <a16:creationId xmlns:a16="http://schemas.microsoft.com/office/drawing/2014/main" id="{D3AA82BB-3507-0B14-4961-156F1D272397}"/>
              </a:ext>
            </a:extLst>
          </p:cNvPr>
          <p:cNvSpPr txBox="1"/>
          <p:nvPr/>
        </p:nvSpPr>
        <p:spPr>
          <a:xfrm>
            <a:off x="548640" y="4061809"/>
            <a:ext cx="5943600" cy="246221"/>
          </a:xfrm>
          <a:prstGeom prst="rect">
            <a:avLst/>
          </a:prstGeom>
          <a:noFill/>
        </p:spPr>
        <p:txBody>
          <a:bodyPr wrap="square" lIns="0" tIns="0" rIns="0" bIns="0" anchor="t">
            <a:spAutoFit/>
          </a:bodyPr>
          <a:lstStyle/>
          <a:p>
            <a:pPr algn="l">
              <a:lnSpc>
                <a:spcPct val="100000"/>
              </a:lnSpc>
              <a:spcAft>
                <a:spcPts val="0"/>
              </a:spcAft>
            </a:pPr>
            <a:r>
              <a:rPr lang="en-GB" sz="1600" b="1" i="0" dirty="0">
                <a:solidFill>
                  <a:srgbClr val="1E2761"/>
                </a:solidFill>
                <a:latin typeface="Calibri"/>
              </a:rPr>
              <a:t>FUSION</a:t>
            </a:r>
            <a:r>
              <a:rPr sz="1600" b="1" i="0" dirty="0">
                <a:solidFill>
                  <a:srgbClr val="1E2761"/>
                </a:solidFill>
                <a:latin typeface="Calibri"/>
              </a:rPr>
              <a:t> LAYER  (modality-specific encoders)</a:t>
            </a:r>
          </a:p>
        </p:txBody>
      </p:sp>
      <p:sp>
        <p:nvSpPr>
          <p:cNvPr id="39" name="Rounded Rectangle 15">
            <a:extLst>
              <a:ext uri="{FF2B5EF4-FFF2-40B4-BE49-F238E27FC236}">
                <a16:creationId xmlns:a16="http://schemas.microsoft.com/office/drawing/2014/main" id="{D42806F7-FE65-5BCD-33E4-C5CFE540C8F1}"/>
              </a:ext>
            </a:extLst>
          </p:cNvPr>
          <p:cNvSpPr/>
          <p:nvPr/>
        </p:nvSpPr>
        <p:spPr>
          <a:xfrm>
            <a:off x="618743" y="4762896"/>
            <a:ext cx="2890800" cy="868680"/>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a:t>
            </a:r>
            <a:r>
              <a:rPr lang="en-US" altLang="zh-CN" b="1" dirty="0">
                <a:solidFill>
                  <a:srgbClr val="1E2761"/>
                </a:solidFill>
                <a:latin typeface="Calibri"/>
              </a:rPr>
              <a:t>1</a:t>
            </a:r>
            <a:r>
              <a:rPr b="1" dirty="0">
                <a:solidFill>
                  <a:srgbClr val="1E2761"/>
                </a:solidFill>
                <a:latin typeface="Calibri"/>
              </a:rPr>
              <a:t>_</a:t>
            </a:r>
            <a:r>
              <a:rPr lang="en-US" altLang="zh-CN" b="1" dirty="0">
                <a:solidFill>
                  <a:srgbClr val="1E2761"/>
                </a:solidFill>
                <a:latin typeface="Calibri"/>
              </a:rPr>
              <a:t>Deep</a:t>
            </a:r>
            <a:r>
              <a:rPr sz="1200" dirty="0">
                <a:solidFill>
                  <a:srgbClr val="5B6070"/>
                </a:solidFill>
                <a:latin typeface="Calibri"/>
              </a:rPr>
              <a:t>
</a:t>
            </a:r>
            <a:r>
              <a:rPr lang="en-GB" altLang="zh-CN" sz="1200" dirty="0">
                <a:solidFill>
                  <a:srgbClr val="5B6070"/>
                </a:solidFill>
              </a:rPr>
              <a:t> </a:t>
            </a:r>
            <a:r>
              <a:rPr lang="en-GB" altLang="zh-CN" sz="1600" dirty="0">
                <a:solidFill>
                  <a:srgbClr val="5B6070"/>
                </a:solidFill>
              </a:rPr>
              <a:t>Finance</a:t>
            </a:r>
            <a:endParaRPr sz="1200" dirty="0">
              <a:solidFill>
                <a:srgbClr val="5B6070"/>
              </a:solidFill>
              <a:latin typeface="Calibri"/>
            </a:endParaRPr>
          </a:p>
        </p:txBody>
      </p:sp>
      <p:sp>
        <p:nvSpPr>
          <p:cNvPr id="40" name="Rounded Rectangle 16">
            <a:extLst>
              <a:ext uri="{FF2B5EF4-FFF2-40B4-BE49-F238E27FC236}">
                <a16:creationId xmlns:a16="http://schemas.microsoft.com/office/drawing/2014/main" id="{9DBC932C-AFCA-BF7F-9056-129D05EB041E}"/>
              </a:ext>
            </a:extLst>
          </p:cNvPr>
          <p:cNvSpPr/>
          <p:nvPr/>
        </p:nvSpPr>
        <p:spPr>
          <a:xfrm>
            <a:off x="4650600" y="4195592"/>
            <a:ext cx="2890800" cy="868680"/>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a:t>
            </a:r>
            <a:r>
              <a:rPr lang="en-US" altLang="zh-CN" b="1" dirty="0">
                <a:solidFill>
                  <a:srgbClr val="1E2761"/>
                </a:solidFill>
                <a:latin typeface="Calibri"/>
              </a:rPr>
              <a:t>2</a:t>
            </a:r>
            <a:r>
              <a:rPr b="1" dirty="0">
                <a:solidFill>
                  <a:srgbClr val="1E2761"/>
                </a:solidFill>
                <a:latin typeface="Calibri"/>
              </a:rPr>
              <a:t>_</a:t>
            </a:r>
            <a:r>
              <a:rPr lang="en-US" altLang="zh-CN" b="1" dirty="0">
                <a:solidFill>
                  <a:srgbClr val="1E2761"/>
                </a:solidFill>
                <a:latin typeface="Calibri"/>
              </a:rPr>
              <a:t>Deep</a:t>
            </a:r>
            <a:endParaRPr b="1" dirty="0">
              <a:solidFill>
                <a:srgbClr val="1E2761"/>
              </a:solidFill>
              <a:latin typeface="Calibri"/>
            </a:endParaRPr>
          </a:p>
          <a:p>
            <a:pPr algn="ctr">
              <a:spcBef>
                <a:spcPts val="100"/>
              </a:spcBef>
            </a:pPr>
            <a:r>
              <a:rPr lang="en-US" altLang="zh-CN" sz="1600" dirty="0">
                <a:solidFill>
                  <a:srgbClr val="5B6070"/>
                </a:solidFill>
              </a:rPr>
              <a:t>F</a:t>
            </a:r>
            <a:r>
              <a:rPr sz="1600" dirty="0">
                <a:solidFill>
                  <a:srgbClr val="5B6070"/>
                </a:solidFill>
              </a:rPr>
              <a:t>inance+ RS</a:t>
            </a:r>
          </a:p>
        </p:txBody>
      </p:sp>
      <p:sp>
        <p:nvSpPr>
          <p:cNvPr id="41" name="Rounded Rectangle 17">
            <a:extLst>
              <a:ext uri="{FF2B5EF4-FFF2-40B4-BE49-F238E27FC236}">
                <a16:creationId xmlns:a16="http://schemas.microsoft.com/office/drawing/2014/main" id="{432A5098-EEED-E122-9DB1-AC4A5440C1AD}"/>
              </a:ext>
            </a:extLst>
          </p:cNvPr>
          <p:cNvSpPr/>
          <p:nvPr/>
        </p:nvSpPr>
        <p:spPr>
          <a:xfrm>
            <a:off x="4648849" y="5211106"/>
            <a:ext cx="2892551" cy="868680"/>
          </a:xfrm>
          <a:prstGeom prst="roundRect">
            <a:avLst>
              <a:gd name="adj" fmla="val 12000"/>
            </a:avLst>
          </a:prstGeom>
          <a:solidFill>
            <a:srgbClr val="FDF4E3"/>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a:t>
            </a:r>
            <a:r>
              <a:rPr lang="en-US" altLang="zh-CN" b="1" dirty="0">
                <a:solidFill>
                  <a:srgbClr val="1E2761"/>
                </a:solidFill>
                <a:latin typeface="Calibri"/>
              </a:rPr>
              <a:t>3</a:t>
            </a:r>
            <a:r>
              <a:rPr b="1" dirty="0">
                <a:solidFill>
                  <a:srgbClr val="1E2761"/>
                </a:solidFill>
                <a:latin typeface="Calibri"/>
              </a:rPr>
              <a:t>_</a:t>
            </a:r>
            <a:r>
              <a:rPr lang="en-US" altLang="zh-CN" b="1" dirty="0">
                <a:solidFill>
                  <a:srgbClr val="1E2761"/>
                </a:solidFill>
                <a:latin typeface="Calibri"/>
              </a:rPr>
              <a:t>Deep</a:t>
            </a:r>
            <a:endParaRPr b="1" dirty="0">
              <a:solidFill>
                <a:srgbClr val="1E2761"/>
              </a:solidFill>
              <a:latin typeface="Calibri"/>
            </a:endParaRPr>
          </a:p>
          <a:p>
            <a:pPr algn="ctr">
              <a:spcBef>
                <a:spcPts val="100"/>
              </a:spcBef>
            </a:pPr>
            <a:r>
              <a:rPr lang="en-US" altLang="zh-CN" sz="1600" dirty="0">
                <a:solidFill>
                  <a:srgbClr val="5B6070"/>
                </a:solidFill>
              </a:rPr>
              <a:t>F</a:t>
            </a:r>
            <a:r>
              <a:rPr sz="1600" dirty="0">
                <a:solidFill>
                  <a:srgbClr val="5B6070"/>
                </a:solidFill>
              </a:rPr>
              <a:t>inance +</a:t>
            </a:r>
            <a:r>
              <a:rPr lang="en-US" altLang="zh-CN" sz="1600" dirty="0">
                <a:solidFill>
                  <a:srgbClr val="5B6070"/>
                </a:solidFill>
              </a:rPr>
              <a:t>S</a:t>
            </a:r>
            <a:r>
              <a:rPr sz="1600" dirty="0">
                <a:solidFill>
                  <a:srgbClr val="5B6070"/>
                </a:solidFill>
              </a:rPr>
              <a:t>hipping</a:t>
            </a:r>
          </a:p>
        </p:txBody>
      </p:sp>
      <p:sp>
        <p:nvSpPr>
          <p:cNvPr id="42" name="Rounded Rectangle 18">
            <a:extLst>
              <a:ext uri="{FF2B5EF4-FFF2-40B4-BE49-F238E27FC236}">
                <a16:creationId xmlns:a16="http://schemas.microsoft.com/office/drawing/2014/main" id="{E6404B54-74D4-0E59-BEA5-6421ADE4D965}"/>
              </a:ext>
            </a:extLst>
          </p:cNvPr>
          <p:cNvSpPr/>
          <p:nvPr/>
        </p:nvSpPr>
        <p:spPr>
          <a:xfrm>
            <a:off x="8391862" y="4762896"/>
            <a:ext cx="2890800" cy="868680"/>
          </a:xfrm>
          <a:prstGeom prst="roundRect">
            <a:avLst>
              <a:gd name="adj" fmla="val 12000"/>
            </a:avLst>
          </a:prstGeom>
          <a:solidFill>
            <a:srgbClr val="FDF4E3"/>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dirty="0">
                <a:solidFill>
                  <a:srgbClr val="1E2761"/>
                </a:solidFill>
                <a:latin typeface="Calibri"/>
              </a:rPr>
              <a:t>M</a:t>
            </a:r>
            <a:r>
              <a:rPr lang="en-US" altLang="zh-CN" b="1" dirty="0">
                <a:solidFill>
                  <a:srgbClr val="1E2761"/>
                </a:solidFill>
                <a:latin typeface="Calibri"/>
              </a:rPr>
              <a:t>4_Deep</a:t>
            </a:r>
          </a:p>
          <a:p>
            <a:pPr algn="ctr"/>
            <a:r>
              <a:rPr lang="en-GB" altLang="zh-CN" sz="1600" dirty="0">
                <a:solidFill>
                  <a:srgbClr val="5B6070"/>
                </a:solidFill>
              </a:rPr>
              <a:t>Finance + RS + Shipping</a:t>
            </a:r>
          </a:p>
        </p:txBody>
      </p:sp>
      <p:sp>
        <p:nvSpPr>
          <p:cNvPr id="43" name="TextBox 19">
            <a:extLst>
              <a:ext uri="{FF2B5EF4-FFF2-40B4-BE49-F238E27FC236}">
                <a16:creationId xmlns:a16="http://schemas.microsoft.com/office/drawing/2014/main" id="{EBDAA421-EAD6-F0A3-0E2C-C1B31DA22143}"/>
              </a:ext>
            </a:extLst>
          </p:cNvPr>
          <p:cNvSpPr txBox="1"/>
          <p:nvPr/>
        </p:nvSpPr>
        <p:spPr>
          <a:xfrm>
            <a:off x="655320" y="6145971"/>
            <a:ext cx="10607040" cy="492443"/>
          </a:xfrm>
          <a:prstGeom prst="rect">
            <a:avLst/>
          </a:prstGeom>
          <a:noFill/>
        </p:spPr>
        <p:txBody>
          <a:bodyPr wrap="square" lIns="0" tIns="0" rIns="0" bIns="0" anchor="t">
            <a:spAutoFit/>
          </a:bodyPr>
          <a:lstStyle/>
          <a:p>
            <a:r>
              <a:rPr lang="en-GB" sz="1600" i="1" dirty="0">
                <a:solidFill>
                  <a:srgbClr val="5B6070"/>
                </a:solidFill>
              </a:rPr>
              <a:t>Extra models built for comparison：</a:t>
            </a:r>
            <a:br>
              <a:rPr lang="en-GB" sz="1600" i="1" dirty="0">
                <a:solidFill>
                  <a:srgbClr val="5B6070"/>
                </a:solidFill>
              </a:rPr>
            </a:br>
            <a:r>
              <a:rPr lang="en-GB" sz="1600" i="1" dirty="0">
                <a:solidFill>
                  <a:srgbClr val="5B6070"/>
                </a:solidFill>
              </a:rPr>
              <a:t>single-modality models (</a:t>
            </a:r>
            <a:r>
              <a:rPr lang="en-GB" sz="1600" i="1" dirty="0" err="1">
                <a:solidFill>
                  <a:srgbClr val="5B6070"/>
                </a:solidFill>
              </a:rPr>
              <a:t>M_Deep_Ship</a:t>
            </a:r>
            <a:r>
              <a:rPr lang="en-GB" sz="1600" i="1" dirty="0">
                <a:solidFill>
                  <a:srgbClr val="5B6070"/>
                </a:solidFill>
              </a:rPr>
              <a:t>, </a:t>
            </a:r>
            <a:r>
              <a:rPr lang="en-GB" sz="1600" i="1" dirty="0" err="1">
                <a:solidFill>
                  <a:srgbClr val="5B6070"/>
                </a:solidFill>
              </a:rPr>
              <a:t>M_Deep_RemoteSense</a:t>
            </a:r>
            <a:r>
              <a:rPr lang="en-GB" sz="1600" i="1" dirty="0">
                <a:solidFill>
                  <a:srgbClr val="5B6070"/>
                </a:solidFill>
              </a:rPr>
              <a:t>),  different concatenation models (</a:t>
            </a:r>
            <a:r>
              <a:rPr lang="en-GB" sz="1600" i="1" dirty="0" err="1">
                <a:solidFill>
                  <a:srgbClr val="5B6070"/>
                </a:solidFill>
              </a:rPr>
              <a:t>M_concat</a:t>
            </a:r>
            <a:r>
              <a:rPr lang="en-GB" sz="1600" i="1" dirty="0">
                <a:solidFill>
                  <a:srgbClr val="5B6070"/>
                </a:solidFill>
              </a:rPr>
              <a:t>)</a:t>
            </a:r>
            <a:endParaRPr sz="1050" b="0" i="1" dirty="0">
              <a:solidFill>
                <a:srgbClr val="5B6070"/>
              </a:solidFill>
              <a:latin typeface="Calibri"/>
            </a:endParaRPr>
          </a:p>
        </p:txBody>
      </p:sp>
      <p:sp>
        <p:nvSpPr>
          <p:cNvPr id="44" name="Shape 19">
            <a:extLst>
              <a:ext uri="{FF2B5EF4-FFF2-40B4-BE49-F238E27FC236}">
                <a16:creationId xmlns:a16="http://schemas.microsoft.com/office/drawing/2014/main" id="{5B54609D-8116-4987-4340-714E30DE832D}"/>
              </a:ext>
            </a:extLst>
          </p:cNvPr>
          <p:cNvSpPr/>
          <p:nvPr/>
        </p:nvSpPr>
        <p:spPr>
          <a:xfrm flipV="1">
            <a:off x="3072384" y="2422652"/>
            <a:ext cx="1773936" cy="369377"/>
          </a:xfrm>
          <a:prstGeom prst="line">
            <a:avLst/>
          </a:prstGeom>
          <a:noFill/>
          <a:ln w="19050">
            <a:solidFill>
              <a:srgbClr val="5C7A94"/>
            </a:solidFill>
            <a:prstDash val="solid"/>
            <a:tailEnd type="triangle"/>
          </a:ln>
        </p:spPr>
        <p:txBody>
          <a:bodyPr/>
          <a:lstStyle/>
          <a:p>
            <a:endParaRPr lang="zh-CN" altLang="en-US"/>
          </a:p>
        </p:txBody>
      </p:sp>
      <p:sp>
        <p:nvSpPr>
          <p:cNvPr id="45" name="Shape 20">
            <a:extLst>
              <a:ext uri="{FF2B5EF4-FFF2-40B4-BE49-F238E27FC236}">
                <a16:creationId xmlns:a16="http://schemas.microsoft.com/office/drawing/2014/main" id="{C8A7140F-44EA-413A-6640-B93ED1344614}"/>
              </a:ext>
            </a:extLst>
          </p:cNvPr>
          <p:cNvSpPr/>
          <p:nvPr/>
        </p:nvSpPr>
        <p:spPr>
          <a:xfrm>
            <a:off x="3087624" y="2822964"/>
            <a:ext cx="1758696" cy="298245"/>
          </a:xfrm>
          <a:prstGeom prst="line">
            <a:avLst/>
          </a:prstGeom>
          <a:noFill/>
          <a:ln w="19050">
            <a:solidFill>
              <a:srgbClr val="5C7A94"/>
            </a:solidFill>
            <a:prstDash val="solid"/>
            <a:tailEnd type="triangle"/>
          </a:ln>
        </p:spPr>
        <p:txBody>
          <a:bodyPr/>
          <a:lstStyle/>
          <a:p>
            <a:endParaRPr lang="zh-CN" altLang="en-US"/>
          </a:p>
        </p:txBody>
      </p:sp>
      <p:sp>
        <p:nvSpPr>
          <p:cNvPr id="46" name="Shape 19">
            <a:extLst>
              <a:ext uri="{FF2B5EF4-FFF2-40B4-BE49-F238E27FC236}">
                <a16:creationId xmlns:a16="http://schemas.microsoft.com/office/drawing/2014/main" id="{B8CD3D01-CD38-7F99-CFAC-8D4EEA928D91}"/>
              </a:ext>
            </a:extLst>
          </p:cNvPr>
          <p:cNvSpPr/>
          <p:nvPr/>
        </p:nvSpPr>
        <p:spPr>
          <a:xfrm flipV="1">
            <a:off x="3509543" y="4639161"/>
            <a:ext cx="1139306" cy="558891"/>
          </a:xfrm>
          <a:prstGeom prst="line">
            <a:avLst/>
          </a:prstGeom>
          <a:noFill/>
          <a:ln w="19050">
            <a:solidFill>
              <a:srgbClr val="5C7A94"/>
            </a:solidFill>
            <a:prstDash val="solid"/>
            <a:tailEnd type="triangle"/>
          </a:ln>
        </p:spPr>
        <p:txBody>
          <a:bodyPr/>
          <a:lstStyle/>
          <a:p>
            <a:endParaRPr lang="zh-CN" altLang="en-US"/>
          </a:p>
        </p:txBody>
      </p:sp>
      <p:sp>
        <p:nvSpPr>
          <p:cNvPr id="47" name="Shape 20">
            <a:extLst>
              <a:ext uri="{FF2B5EF4-FFF2-40B4-BE49-F238E27FC236}">
                <a16:creationId xmlns:a16="http://schemas.microsoft.com/office/drawing/2014/main" id="{998E2E5C-A117-16AD-4C0E-FFF54BAA0490}"/>
              </a:ext>
            </a:extLst>
          </p:cNvPr>
          <p:cNvSpPr/>
          <p:nvPr/>
        </p:nvSpPr>
        <p:spPr>
          <a:xfrm>
            <a:off x="3509544" y="5221847"/>
            <a:ext cx="1139306" cy="422782"/>
          </a:xfrm>
          <a:prstGeom prst="line">
            <a:avLst/>
          </a:prstGeom>
          <a:noFill/>
          <a:ln w="19050">
            <a:solidFill>
              <a:srgbClr val="5C7A94"/>
            </a:solidFill>
            <a:prstDash val="solid"/>
            <a:tailEnd type="triangle"/>
          </a:ln>
        </p:spPr>
        <p:txBody>
          <a:bodyPr/>
          <a:lstStyle/>
          <a:p>
            <a:endParaRPr lang="zh-CN" altLang="en-US"/>
          </a:p>
        </p:txBody>
      </p:sp>
      <p:sp>
        <p:nvSpPr>
          <p:cNvPr id="48" name="Shape 21">
            <a:extLst>
              <a:ext uri="{FF2B5EF4-FFF2-40B4-BE49-F238E27FC236}">
                <a16:creationId xmlns:a16="http://schemas.microsoft.com/office/drawing/2014/main" id="{205875D5-4646-35A2-1A42-8F8995DEDB09}"/>
              </a:ext>
            </a:extLst>
          </p:cNvPr>
          <p:cNvSpPr/>
          <p:nvPr/>
        </p:nvSpPr>
        <p:spPr>
          <a:xfrm>
            <a:off x="7315200" y="2422651"/>
            <a:ext cx="1497862" cy="413465"/>
          </a:xfrm>
          <a:prstGeom prst="line">
            <a:avLst/>
          </a:prstGeom>
          <a:noFill/>
          <a:ln w="19050">
            <a:solidFill>
              <a:srgbClr val="5C7A94"/>
            </a:solidFill>
            <a:prstDash val="solid"/>
            <a:tailEnd type="triangle"/>
          </a:ln>
        </p:spPr>
        <p:txBody>
          <a:bodyPr/>
          <a:lstStyle/>
          <a:p>
            <a:endParaRPr lang="zh-CN" altLang="en-US"/>
          </a:p>
        </p:txBody>
      </p:sp>
      <p:sp>
        <p:nvSpPr>
          <p:cNvPr id="49" name="Shape 22">
            <a:extLst>
              <a:ext uri="{FF2B5EF4-FFF2-40B4-BE49-F238E27FC236}">
                <a16:creationId xmlns:a16="http://schemas.microsoft.com/office/drawing/2014/main" id="{086943F7-1960-505B-5A31-35C7944F7000}"/>
              </a:ext>
            </a:extLst>
          </p:cNvPr>
          <p:cNvSpPr/>
          <p:nvPr/>
        </p:nvSpPr>
        <p:spPr>
          <a:xfrm flipV="1">
            <a:off x="7315200" y="2864639"/>
            <a:ext cx="1497862" cy="232684"/>
          </a:xfrm>
          <a:prstGeom prst="line">
            <a:avLst/>
          </a:prstGeom>
          <a:noFill/>
          <a:ln w="19050">
            <a:solidFill>
              <a:srgbClr val="5C7A94"/>
            </a:solidFill>
            <a:prstDash val="solid"/>
            <a:tailEnd type="triangle"/>
          </a:ln>
        </p:spPr>
        <p:txBody>
          <a:bodyPr/>
          <a:lstStyle/>
          <a:p>
            <a:endParaRPr lang="zh-CN" altLang="en-US"/>
          </a:p>
        </p:txBody>
      </p:sp>
      <p:sp>
        <p:nvSpPr>
          <p:cNvPr id="50" name="Shape 21">
            <a:extLst>
              <a:ext uri="{FF2B5EF4-FFF2-40B4-BE49-F238E27FC236}">
                <a16:creationId xmlns:a16="http://schemas.microsoft.com/office/drawing/2014/main" id="{71281F1F-AC80-7667-5B95-AD681A07E6B8}"/>
              </a:ext>
            </a:extLst>
          </p:cNvPr>
          <p:cNvSpPr/>
          <p:nvPr/>
        </p:nvSpPr>
        <p:spPr>
          <a:xfrm>
            <a:off x="7541400" y="4629932"/>
            <a:ext cx="850462" cy="545921"/>
          </a:xfrm>
          <a:prstGeom prst="line">
            <a:avLst/>
          </a:prstGeom>
          <a:noFill/>
          <a:ln w="19050">
            <a:solidFill>
              <a:srgbClr val="5C7A94"/>
            </a:solidFill>
            <a:prstDash val="solid"/>
            <a:tailEnd type="triangle"/>
          </a:ln>
        </p:spPr>
        <p:txBody>
          <a:bodyPr/>
          <a:lstStyle/>
          <a:p>
            <a:endParaRPr lang="zh-CN" altLang="en-US"/>
          </a:p>
        </p:txBody>
      </p:sp>
      <p:sp>
        <p:nvSpPr>
          <p:cNvPr id="51" name="Shape 22">
            <a:extLst>
              <a:ext uri="{FF2B5EF4-FFF2-40B4-BE49-F238E27FC236}">
                <a16:creationId xmlns:a16="http://schemas.microsoft.com/office/drawing/2014/main" id="{A703184D-F4AF-1630-F6F9-05CA6CFFAC8F}"/>
              </a:ext>
            </a:extLst>
          </p:cNvPr>
          <p:cNvSpPr/>
          <p:nvPr/>
        </p:nvSpPr>
        <p:spPr>
          <a:xfrm flipV="1">
            <a:off x="7539649" y="5198053"/>
            <a:ext cx="852214" cy="446576"/>
          </a:xfrm>
          <a:prstGeom prst="line">
            <a:avLst/>
          </a:prstGeom>
          <a:noFill/>
          <a:ln w="19050">
            <a:solidFill>
              <a:srgbClr val="5C7A94"/>
            </a:solidFill>
            <a:prstDash val="solid"/>
            <a:tailEnd type="triangle"/>
          </a:ln>
        </p:spPr>
        <p:txBody>
          <a:bodyPr/>
          <a:lstStyle/>
          <a:p>
            <a:endParaRPr lang="zh-CN" altLang="en-US"/>
          </a:p>
        </p:txBody>
      </p:sp>
      <p:sp>
        <p:nvSpPr>
          <p:cNvPr id="6" name="TextBox 18">
            <a:extLst>
              <a:ext uri="{FF2B5EF4-FFF2-40B4-BE49-F238E27FC236}">
                <a16:creationId xmlns:a16="http://schemas.microsoft.com/office/drawing/2014/main" id="{78FEDFF6-9C8C-4506-8725-E4C168E90F98}"/>
              </a:ext>
            </a:extLst>
          </p:cNvPr>
          <p:cNvSpPr txBox="1"/>
          <p:nvPr/>
        </p:nvSpPr>
        <p:spPr>
          <a:xfrm>
            <a:off x="11338560" y="6510528"/>
            <a:ext cx="457200" cy="146194"/>
          </a:xfrm>
          <a:prstGeom prst="rect">
            <a:avLst/>
          </a:prstGeom>
          <a:noFill/>
        </p:spPr>
        <p:txBody>
          <a:bodyPr wrap="square" lIns="0" tIns="0" rIns="0" bIns="0" anchor="t">
            <a:spAutoFit/>
          </a:bodyPr>
          <a:lstStyle/>
          <a:p>
            <a:pPr algn="r">
              <a:lnSpc>
                <a:spcPct val="100000"/>
              </a:lnSpc>
              <a:spcAft>
                <a:spcPts val="0"/>
              </a:spcAft>
            </a:pPr>
            <a:r>
              <a:rPr lang="en-US" sz="950" dirty="0">
                <a:solidFill>
                  <a:srgbClr val="5B6070"/>
                </a:solidFill>
                <a:latin typeface="Calibri"/>
              </a:rPr>
              <a:t>2</a:t>
            </a:r>
            <a:endParaRPr sz="950" b="0" i="0" dirty="0">
              <a:solidFill>
                <a:srgbClr val="5B607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63880" y="802440"/>
            <a:ext cx="11064240" cy="461665"/>
          </a:xfrm>
          <a:prstGeom prst="rect">
            <a:avLst/>
          </a:prstGeom>
          <a:noFill/>
        </p:spPr>
        <p:txBody>
          <a:bodyPr wrap="square" lIns="0" tIns="0" rIns="0" bIns="0" anchor="t">
            <a:spAutoFit/>
          </a:bodyPr>
          <a:lstStyle/>
          <a:p>
            <a:r>
              <a:rPr sz="3000" b="1" i="0" dirty="0">
                <a:solidFill>
                  <a:srgbClr val="141A45"/>
                </a:solidFill>
                <a:latin typeface="Cambria"/>
              </a:rPr>
              <a:t>Flat layer: </a:t>
            </a:r>
            <a:r>
              <a:rPr lang="en-GB" sz="3000" b="1" i="0" dirty="0">
                <a:solidFill>
                  <a:srgbClr val="141A45"/>
                </a:solidFill>
                <a:latin typeface="Cambria"/>
              </a:rPr>
              <a:t>What Each Data Type Contributes</a:t>
            </a:r>
            <a:endParaRPr sz="3000" b="1" i="0" dirty="0">
              <a:solidFill>
                <a:srgbClr val="141A45"/>
              </a:solidFill>
              <a:latin typeface="Cambria"/>
            </a:endParaRPr>
          </a:p>
        </p:txBody>
      </p:sp>
      <p:sp>
        <p:nvSpPr>
          <p:cNvPr id="5" name="TextBox 4"/>
          <p:cNvSpPr txBox="1"/>
          <p:nvPr/>
        </p:nvSpPr>
        <p:spPr>
          <a:xfrm>
            <a:off x="548640" y="1737360"/>
            <a:ext cx="5577840" cy="3198633"/>
          </a:xfrm>
          <a:prstGeom prst="rect">
            <a:avLst/>
          </a:prstGeom>
          <a:noFill/>
        </p:spPr>
        <p:txBody>
          <a:bodyPr wrap="square" lIns="0" tIns="0" rIns="0" bIns="0">
            <a:spAutoFit/>
          </a:bodyPr>
          <a:lstStyle/>
          <a:p>
            <a:pPr marL="228600" indent="-228600">
              <a:lnSpc>
                <a:spcPct val="115000"/>
              </a:lnSpc>
              <a:spcAft>
                <a:spcPts val="1300"/>
              </a:spcAft>
              <a:buFont typeface="Arial"/>
              <a:buChar char="–"/>
            </a:pPr>
            <a:r>
              <a:rPr lang="en-GB" altLang="zh-CN" sz="1600" b="1" dirty="0">
                <a:solidFill>
                  <a:srgbClr val="232633"/>
                </a:solidFill>
              </a:rPr>
              <a:t>Model: </a:t>
            </a:r>
            <a:r>
              <a:rPr lang="en-GB" altLang="zh-CN" sz="1600" dirty="0">
                <a:solidFill>
                  <a:srgbClr val="232633"/>
                </a:solidFill>
              </a:rPr>
              <a:t>Ridge + </a:t>
            </a:r>
            <a:r>
              <a:rPr lang="en-GB" altLang="zh-CN" sz="1600" dirty="0" err="1">
                <a:solidFill>
                  <a:srgbClr val="232633"/>
                </a:solidFill>
              </a:rPr>
              <a:t>XGBoost</a:t>
            </a:r>
            <a:r>
              <a:rPr lang="en-GB" altLang="zh-CN" sz="1600" dirty="0">
                <a:solidFill>
                  <a:srgbClr val="232633"/>
                </a:solidFill>
              </a:rPr>
              <a:t> on one big table (M0–M4), chosen from the literature's usual benchmarks.</a:t>
            </a:r>
          </a:p>
          <a:p>
            <a:pPr marL="228600" indent="-228600">
              <a:lnSpc>
                <a:spcPct val="115000"/>
              </a:lnSpc>
              <a:spcAft>
                <a:spcPts val="1300"/>
              </a:spcAft>
              <a:buFont typeface="Arial"/>
              <a:buChar char="–"/>
            </a:pPr>
            <a:r>
              <a:rPr lang="en-GB" altLang="zh-CN" sz="1600" b="1" dirty="0">
                <a:solidFill>
                  <a:srgbClr val="232633"/>
                </a:solidFill>
              </a:rPr>
              <a:t>No-Change forecast remains hard to beat</a:t>
            </a:r>
            <a:r>
              <a:rPr lang="en-GB" altLang="zh-CN" sz="1600" dirty="0">
                <a:solidFill>
                  <a:srgbClr val="232633"/>
                </a:solidFill>
              </a:rPr>
              <a:t>.</a:t>
            </a:r>
          </a:p>
          <a:p>
            <a:pPr marL="228600" indent="-228600">
              <a:lnSpc>
                <a:spcPct val="115000"/>
              </a:lnSpc>
              <a:spcAft>
                <a:spcPts val="1300"/>
              </a:spcAft>
              <a:buFont typeface="Arial"/>
              <a:buChar char="–"/>
            </a:pPr>
            <a:r>
              <a:rPr lang="en-GB" altLang="zh-CN" sz="1600" b="1" dirty="0">
                <a:solidFill>
                  <a:srgbClr val="232633"/>
                </a:solidFill>
              </a:rPr>
              <a:t>Shipping helps: </a:t>
            </a:r>
            <a:r>
              <a:rPr lang="en-GB" altLang="zh-CN" sz="1600" dirty="0">
                <a:solidFill>
                  <a:srgbClr val="232633"/>
                </a:solidFill>
              </a:rPr>
              <a:t>adding shipping on top of finance gives a clear nested gain under </a:t>
            </a:r>
            <a:r>
              <a:rPr lang="en-GB" altLang="zh-CN" sz="1600" dirty="0" err="1">
                <a:solidFill>
                  <a:srgbClr val="232633"/>
                </a:solidFill>
              </a:rPr>
              <a:t>XGBoost</a:t>
            </a:r>
            <a:r>
              <a:rPr lang="en-GB" altLang="zh-CN" sz="1600" dirty="0">
                <a:solidFill>
                  <a:srgbClr val="232633"/>
                </a:solidFill>
              </a:rPr>
              <a:t>; Ridge often can't use it.</a:t>
            </a:r>
          </a:p>
          <a:p>
            <a:pPr marL="228600" indent="-228600">
              <a:lnSpc>
                <a:spcPct val="115000"/>
              </a:lnSpc>
              <a:spcAft>
                <a:spcPts val="1300"/>
              </a:spcAft>
              <a:buFont typeface="Arial"/>
              <a:buChar char="–"/>
            </a:pPr>
            <a:r>
              <a:rPr lang="en-GB" altLang="zh-CN" sz="1600" b="1" dirty="0">
                <a:solidFill>
                  <a:srgbClr val="232633"/>
                </a:solidFill>
              </a:rPr>
              <a:t>Satellite is weak: </a:t>
            </a:r>
            <a:r>
              <a:rPr lang="en-GB" altLang="zh-CN" sz="1600" dirty="0">
                <a:solidFill>
                  <a:srgbClr val="232633"/>
                </a:solidFill>
              </a:rPr>
              <a:t>adding satellite alone isn't clearly helpful in the main full-column setup.</a:t>
            </a:r>
          </a:p>
          <a:p>
            <a:pPr marL="228600" indent="-228600">
              <a:lnSpc>
                <a:spcPct val="115000"/>
              </a:lnSpc>
              <a:spcAft>
                <a:spcPts val="1300"/>
              </a:spcAft>
              <a:buFont typeface="Arial"/>
              <a:buChar char="–"/>
            </a:pPr>
            <a:r>
              <a:rPr lang="en-GB" altLang="zh-CN" sz="1600" b="1" dirty="0">
                <a:solidFill>
                  <a:srgbClr val="232633"/>
                </a:solidFill>
              </a:rPr>
              <a:t>What the model leans on (SHAP, M4):</a:t>
            </a:r>
            <a:br>
              <a:rPr lang="en-GB" altLang="zh-CN" sz="1600" b="1" dirty="0">
                <a:solidFill>
                  <a:srgbClr val="232633"/>
                </a:solidFill>
              </a:rPr>
            </a:br>
            <a:r>
              <a:rPr lang="zh-CN" altLang="en-US" sz="1600" b="1" dirty="0">
                <a:solidFill>
                  <a:srgbClr val="232633"/>
                </a:solidFill>
              </a:rPr>
              <a:t> </a:t>
            </a:r>
            <a:r>
              <a:rPr lang="en-GB" altLang="zh-CN" sz="1600" dirty="0">
                <a:solidFill>
                  <a:srgbClr val="232633"/>
                </a:solidFill>
              </a:rPr>
              <a:t>shipping 52% &gt; finance 34% &gt; satellite 15%</a:t>
            </a:r>
          </a:p>
        </p:txBody>
      </p:sp>
      <p:sp>
        <p:nvSpPr>
          <p:cNvPr id="16" name="Rounded Rectangle 15"/>
          <p:cNvSpPr/>
          <p:nvPr/>
        </p:nvSpPr>
        <p:spPr>
          <a:xfrm>
            <a:off x="516384" y="5092678"/>
            <a:ext cx="5764273" cy="1473269"/>
          </a:xfrm>
          <a:prstGeom prst="roundRect">
            <a:avLst>
              <a:gd name="adj" fmla="val 10000"/>
            </a:avLst>
          </a:prstGeom>
          <a:solidFill>
            <a:srgbClr val="F7F8FA"/>
          </a:solidFill>
          <a:ln w="12700">
            <a:solidFill>
              <a:srgbClr val="D7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278524"/>
            <a:ext cx="5227320" cy="1108509"/>
          </a:xfrm>
          <a:prstGeom prst="rect">
            <a:avLst/>
          </a:prstGeom>
          <a:noFill/>
        </p:spPr>
        <p:txBody>
          <a:bodyPr wrap="square" lIns="0" tIns="0" rIns="0" bIns="0" anchor="t">
            <a:spAutoFit/>
          </a:bodyPr>
          <a:lstStyle/>
          <a:p>
            <a:pPr algn="l">
              <a:lnSpc>
                <a:spcPct val="115000"/>
              </a:lnSpc>
              <a:spcAft>
                <a:spcPts val="0"/>
              </a:spcAft>
            </a:pPr>
            <a:r>
              <a:rPr sz="1600" b="1" i="1" dirty="0">
                <a:solidFill>
                  <a:srgbClr val="141A45"/>
                </a:solidFill>
                <a:latin typeface="Cambria"/>
              </a:rPr>
              <a:t>In the big table, shipping looks useful — about 3x satellite's share, ~37 points higher — and satellite looks weak. But even useful shipping is hard to turn into clean gains once everything is flattened together.</a:t>
            </a:r>
          </a:p>
        </p:txBody>
      </p:sp>
      <p:sp>
        <p:nvSpPr>
          <p:cNvPr id="19" name="TextBox 18"/>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Aft>
                <a:spcPts val="0"/>
              </a:spcAft>
            </a:pPr>
            <a:r>
              <a:rPr sz="950" b="0" i="0" dirty="0">
                <a:solidFill>
                  <a:srgbClr val="5B6070"/>
                </a:solidFill>
                <a:latin typeface="Calibri"/>
              </a:rPr>
              <a:t>3</a:t>
            </a:r>
          </a:p>
        </p:txBody>
      </p:sp>
      <p:pic>
        <p:nvPicPr>
          <p:cNvPr id="22" name="图片 21">
            <a:extLst>
              <a:ext uri="{FF2B5EF4-FFF2-40B4-BE49-F238E27FC236}">
                <a16:creationId xmlns:a16="http://schemas.microsoft.com/office/drawing/2014/main" id="{26492F1F-2374-F83E-43BD-195AE6601672}"/>
              </a:ext>
            </a:extLst>
          </p:cNvPr>
          <p:cNvPicPr>
            <a:picLocks noChangeAspect="1"/>
          </p:cNvPicPr>
          <p:nvPr/>
        </p:nvPicPr>
        <p:blipFill>
          <a:blip r:embed="rId3"/>
          <a:srcRect l="3233" t="89" r="7149" b="7236"/>
          <a:stretch>
            <a:fillRect/>
          </a:stretch>
        </p:blipFill>
        <p:spPr>
          <a:xfrm>
            <a:off x="6525189" y="3150681"/>
            <a:ext cx="5001793" cy="3444855"/>
          </a:xfrm>
          <a:prstGeom prst="rect">
            <a:avLst/>
          </a:prstGeom>
        </p:spPr>
      </p:pic>
      <p:pic>
        <p:nvPicPr>
          <p:cNvPr id="2" name="图片 1">
            <a:extLst>
              <a:ext uri="{FF2B5EF4-FFF2-40B4-BE49-F238E27FC236}">
                <a16:creationId xmlns:a16="http://schemas.microsoft.com/office/drawing/2014/main" id="{4C833601-375B-02B2-188C-D0E7935ECA0C}"/>
              </a:ext>
            </a:extLst>
          </p:cNvPr>
          <p:cNvPicPr>
            <a:picLocks noChangeAspect="1"/>
          </p:cNvPicPr>
          <p:nvPr/>
        </p:nvPicPr>
        <p:blipFill>
          <a:blip r:embed="rId4"/>
          <a:srcRect l="1312" t="3285" r="945" b="7065"/>
          <a:stretch>
            <a:fillRect/>
          </a:stretch>
        </p:blipFill>
        <p:spPr>
          <a:xfrm>
            <a:off x="6599248" y="1677413"/>
            <a:ext cx="4739312" cy="14732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818883"/>
            <a:ext cx="11064240" cy="461665"/>
          </a:xfrm>
          <a:prstGeom prst="rect">
            <a:avLst/>
          </a:prstGeom>
          <a:noFill/>
        </p:spPr>
        <p:txBody>
          <a:bodyPr wrap="square" lIns="0" tIns="0" rIns="0" bIns="0" anchor="t">
            <a:spAutoFit/>
          </a:bodyPr>
          <a:lstStyle/>
          <a:p>
            <a:pPr algn="l">
              <a:lnSpc>
                <a:spcPct val="100000"/>
              </a:lnSpc>
              <a:spcAft>
                <a:spcPts val="0"/>
              </a:spcAft>
            </a:pPr>
            <a:r>
              <a:rPr sz="3000" b="1" i="0" dirty="0">
                <a:solidFill>
                  <a:srgbClr val="141A45"/>
                </a:solidFill>
                <a:latin typeface="Cambria"/>
              </a:rPr>
              <a:t>Fusion layer: </a:t>
            </a:r>
            <a:r>
              <a:rPr lang="en-US" sz="3000" b="1" i="0" dirty="0">
                <a:solidFill>
                  <a:srgbClr val="141A45"/>
                </a:solidFill>
                <a:latin typeface="Cambria"/>
              </a:rPr>
              <a:t>C</a:t>
            </a:r>
            <a:r>
              <a:rPr sz="3000" b="1" i="0" dirty="0">
                <a:solidFill>
                  <a:srgbClr val="141A45"/>
                </a:solidFill>
                <a:latin typeface="Cambria"/>
              </a:rPr>
              <a:t>urrent </a:t>
            </a:r>
            <a:r>
              <a:rPr lang="en-US" sz="3000" b="1" dirty="0">
                <a:solidFill>
                  <a:srgbClr val="141A45"/>
                </a:solidFill>
                <a:latin typeface="Cambria"/>
              </a:rPr>
              <a:t>F</a:t>
            </a:r>
            <a:r>
              <a:rPr sz="3000" b="1" i="0" dirty="0">
                <a:solidFill>
                  <a:srgbClr val="141A45"/>
                </a:solidFill>
                <a:latin typeface="Cambria"/>
              </a:rPr>
              <a:t>indings</a:t>
            </a:r>
          </a:p>
        </p:txBody>
      </p:sp>
      <p:sp>
        <p:nvSpPr>
          <p:cNvPr id="10" name="TextBox 9"/>
          <p:cNvSpPr txBox="1"/>
          <p:nvPr/>
        </p:nvSpPr>
        <p:spPr>
          <a:xfrm>
            <a:off x="8921805" y="2292151"/>
            <a:ext cx="3117099" cy="1337289"/>
          </a:xfrm>
          <a:prstGeom prst="rect">
            <a:avLst/>
          </a:prstGeom>
          <a:noFill/>
        </p:spPr>
        <p:txBody>
          <a:bodyPr wrap="square" lIns="0" tIns="0" rIns="0" bIns="0" anchor="t">
            <a:spAutoFit/>
          </a:bodyPr>
          <a:lstStyle/>
          <a:p>
            <a:pPr algn="ctr">
              <a:lnSpc>
                <a:spcPct val="150000"/>
              </a:lnSpc>
            </a:pPr>
            <a:r>
              <a:rPr lang="zh-CN" altLang="zh-CN" sz="2000" b="1" dirty="0"/>
              <a:t>Same inputs, better use:</a:t>
            </a:r>
            <a:r>
              <a:rPr lang="zh-CN" altLang="zh-CN" sz="2000" dirty="0"/>
              <a:t> </a:t>
            </a:r>
            <a:endParaRPr lang="en-US" altLang="zh-CN" sz="2000" dirty="0"/>
          </a:p>
          <a:p>
            <a:pPr algn="ctr">
              <a:lnSpc>
                <a:spcPct val="150000"/>
              </a:lnSpc>
            </a:pPr>
            <a:r>
              <a:rPr lang="zh-CN" altLang="zh-CN" sz="2000" dirty="0"/>
              <a:t>smart weighting </a:t>
            </a:r>
            <a:r>
              <a:rPr lang="zh-CN" altLang="zh-CN" sz="2000" b="1" dirty="0">
                <a:solidFill>
                  <a:srgbClr val="C00000"/>
                </a:solidFill>
              </a:rPr>
              <a:t>beats </a:t>
            </a:r>
            <a:br>
              <a:rPr lang="en-US" altLang="zh-CN" sz="2000" dirty="0"/>
            </a:br>
            <a:r>
              <a:rPr lang="zh-CN" altLang="zh-CN" sz="2000" dirty="0"/>
              <a:t>simply gluing learned vectors.</a:t>
            </a:r>
          </a:p>
        </p:txBody>
      </p:sp>
      <p:sp>
        <p:nvSpPr>
          <p:cNvPr id="12" name="Rounded Rectangle 11"/>
          <p:cNvSpPr/>
          <p:nvPr/>
        </p:nvSpPr>
        <p:spPr>
          <a:xfrm>
            <a:off x="523589" y="1687297"/>
            <a:ext cx="2103120" cy="579454"/>
          </a:xfrm>
          <a:prstGeom prst="roundRect">
            <a:avLst>
              <a:gd name="adj" fmla="val 12000"/>
            </a:avLst>
          </a:prstGeom>
          <a:solidFill>
            <a:srgbClr val="E9E9EC"/>
          </a:solidFill>
          <a:ln w="15875">
            <a:solidFill>
              <a:srgbClr val="5B607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232633"/>
                </a:solidFill>
                <a:latin typeface="Calibri"/>
              </a:rPr>
              <a:t>Combo</a:t>
            </a:r>
          </a:p>
        </p:txBody>
      </p:sp>
      <p:sp>
        <p:nvSpPr>
          <p:cNvPr id="13" name="Rounded Rectangle 12"/>
          <p:cNvSpPr/>
          <p:nvPr/>
        </p:nvSpPr>
        <p:spPr>
          <a:xfrm>
            <a:off x="2626709" y="1687297"/>
            <a:ext cx="1645920" cy="579454"/>
          </a:xfrm>
          <a:prstGeom prst="roundRect">
            <a:avLst>
              <a:gd name="adj" fmla="val 12000"/>
            </a:avLst>
          </a:prstGeom>
          <a:solidFill>
            <a:srgbClr val="E9E9EC"/>
          </a:solidFill>
          <a:ln w="15875">
            <a:solidFill>
              <a:srgbClr val="5B607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altLang="zh-CN" sz="1600" b="1" dirty="0">
                <a:solidFill>
                  <a:srgbClr val="232633"/>
                </a:solidFill>
                <a:latin typeface="Calibri"/>
              </a:rPr>
              <a:t>Flat</a:t>
            </a:r>
            <a:r>
              <a:rPr lang="zh-CN" altLang="en-US" sz="1600" b="1" dirty="0">
                <a:solidFill>
                  <a:srgbClr val="232633"/>
                </a:solidFill>
                <a:latin typeface="Calibri"/>
              </a:rPr>
              <a:t> </a:t>
            </a:r>
            <a:r>
              <a:rPr lang="en-US" altLang="zh-CN" sz="1600" b="1" dirty="0">
                <a:solidFill>
                  <a:srgbClr val="232633"/>
                </a:solidFill>
                <a:latin typeface="Calibri"/>
              </a:rPr>
              <a:t>Model</a:t>
            </a:r>
            <a:endParaRPr sz="1600" b="1" dirty="0">
              <a:solidFill>
                <a:srgbClr val="232633"/>
              </a:solidFill>
              <a:latin typeface="Calibri"/>
            </a:endParaRPr>
          </a:p>
        </p:txBody>
      </p:sp>
      <p:sp>
        <p:nvSpPr>
          <p:cNvPr id="14" name="Rounded Rectangle 13"/>
          <p:cNvSpPr/>
          <p:nvPr/>
        </p:nvSpPr>
        <p:spPr>
          <a:xfrm>
            <a:off x="4285155" y="1687297"/>
            <a:ext cx="1645920" cy="579454"/>
          </a:xfrm>
          <a:prstGeom prst="roundRect">
            <a:avLst>
              <a:gd name="adj" fmla="val 12000"/>
            </a:avLst>
          </a:prstGeom>
          <a:solidFill>
            <a:srgbClr val="E9E9EC"/>
          </a:solidFill>
          <a:ln w="15875">
            <a:solidFill>
              <a:srgbClr val="5B607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altLang="zh-CN" sz="1600" b="1" dirty="0">
                <a:solidFill>
                  <a:srgbClr val="232633"/>
                </a:solidFill>
                <a:latin typeface="Calibri"/>
              </a:rPr>
              <a:t>Fusion</a:t>
            </a:r>
            <a:r>
              <a:rPr lang="zh-CN" altLang="en-US" sz="1600" b="1" dirty="0">
                <a:solidFill>
                  <a:srgbClr val="232633"/>
                </a:solidFill>
                <a:latin typeface="Calibri"/>
              </a:rPr>
              <a:t> </a:t>
            </a:r>
            <a:r>
              <a:rPr lang="en-US" altLang="zh-CN" sz="1600" b="1" dirty="0">
                <a:solidFill>
                  <a:srgbClr val="232633"/>
                </a:solidFill>
                <a:latin typeface="Calibri"/>
              </a:rPr>
              <a:t>Model</a:t>
            </a:r>
            <a:endParaRPr sz="1600" b="1" dirty="0">
              <a:solidFill>
                <a:srgbClr val="232633"/>
              </a:solidFill>
              <a:latin typeface="Calibri"/>
            </a:endParaRPr>
          </a:p>
        </p:txBody>
      </p:sp>
      <p:sp>
        <p:nvSpPr>
          <p:cNvPr id="15" name="Rounded Rectangle 14"/>
          <p:cNvSpPr/>
          <p:nvPr/>
        </p:nvSpPr>
        <p:spPr>
          <a:xfrm>
            <a:off x="523589" y="2279713"/>
            <a:ext cx="2103120" cy="720000"/>
          </a:xfrm>
          <a:prstGeom prst="roundRect">
            <a:avLst>
              <a:gd name="adj" fmla="val 12000"/>
            </a:avLst>
          </a:prstGeom>
          <a:solidFill>
            <a:srgbClr val="FFFFFF"/>
          </a:solidFill>
          <a:ln w="15875">
            <a:solidFill>
              <a:srgbClr val="D7DAE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232633"/>
                </a:solidFill>
                <a:latin typeface="Calibri"/>
              </a:rPr>
              <a:t>Finance + shipping</a:t>
            </a:r>
          </a:p>
        </p:txBody>
      </p:sp>
      <p:sp>
        <p:nvSpPr>
          <p:cNvPr id="16" name="Rounded Rectangle 15"/>
          <p:cNvSpPr/>
          <p:nvPr/>
        </p:nvSpPr>
        <p:spPr>
          <a:xfrm>
            <a:off x="2626709" y="2279713"/>
            <a:ext cx="1645920" cy="720000"/>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141A45"/>
                </a:solidFill>
                <a:latin typeface="Calibri"/>
              </a:rPr>
              <a:t>≈ −6.7%</a:t>
            </a:r>
          </a:p>
        </p:txBody>
      </p:sp>
      <p:sp>
        <p:nvSpPr>
          <p:cNvPr id="17" name="Rounded Rectangle 16"/>
          <p:cNvSpPr/>
          <p:nvPr/>
        </p:nvSpPr>
        <p:spPr>
          <a:xfrm>
            <a:off x="4285155" y="2279713"/>
            <a:ext cx="1645920" cy="720000"/>
          </a:xfrm>
          <a:prstGeom prst="roundRect">
            <a:avLst>
              <a:gd name="adj" fmla="val 12000"/>
            </a:avLst>
          </a:prstGeom>
          <a:solidFill>
            <a:srgbClr val="FDF4E3"/>
          </a:solidFill>
          <a:ln w="15875">
            <a:solidFill>
              <a:srgbClr val="B886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C00000"/>
                </a:solidFill>
                <a:latin typeface="Calibri"/>
              </a:rPr>
              <a:t>≈ +0.11%</a:t>
            </a:r>
          </a:p>
        </p:txBody>
      </p:sp>
      <p:sp>
        <p:nvSpPr>
          <p:cNvPr id="18" name="Rounded Rectangle 17"/>
          <p:cNvSpPr/>
          <p:nvPr/>
        </p:nvSpPr>
        <p:spPr>
          <a:xfrm>
            <a:off x="523589" y="3012352"/>
            <a:ext cx="2103120" cy="720000"/>
          </a:xfrm>
          <a:prstGeom prst="roundRect">
            <a:avLst>
              <a:gd name="adj" fmla="val 12000"/>
            </a:avLst>
          </a:prstGeom>
          <a:solidFill>
            <a:srgbClr val="FFFFFF"/>
          </a:solidFill>
          <a:ln w="15875">
            <a:solidFill>
              <a:srgbClr val="D7DAE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232633"/>
                </a:solidFill>
                <a:latin typeface="Calibri"/>
              </a:rPr>
              <a:t>Finance + satellite</a:t>
            </a:r>
          </a:p>
        </p:txBody>
      </p:sp>
      <p:sp>
        <p:nvSpPr>
          <p:cNvPr id="19" name="Rounded Rectangle 18"/>
          <p:cNvSpPr/>
          <p:nvPr/>
        </p:nvSpPr>
        <p:spPr>
          <a:xfrm>
            <a:off x="2626709" y="3012352"/>
            <a:ext cx="1645920" cy="720000"/>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141A45"/>
                </a:solidFill>
                <a:latin typeface="Calibri"/>
              </a:rPr>
              <a:t>≈ −7.0%</a:t>
            </a:r>
          </a:p>
        </p:txBody>
      </p:sp>
      <p:sp>
        <p:nvSpPr>
          <p:cNvPr id="20" name="Rounded Rectangle 19"/>
          <p:cNvSpPr/>
          <p:nvPr/>
        </p:nvSpPr>
        <p:spPr>
          <a:xfrm>
            <a:off x="4285155" y="3012352"/>
            <a:ext cx="1645920" cy="720000"/>
          </a:xfrm>
          <a:prstGeom prst="roundRect">
            <a:avLst>
              <a:gd name="adj" fmla="val 12000"/>
            </a:avLst>
          </a:prstGeom>
          <a:solidFill>
            <a:srgbClr val="FDF4E3"/>
          </a:solidFill>
          <a:ln w="15875">
            <a:solidFill>
              <a:srgbClr val="B886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141A45"/>
                </a:solidFill>
                <a:latin typeface="Calibri"/>
              </a:rPr>
              <a:t>≈ −2.4%</a:t>
            </a:r>
          </a:p>
        </p:txBody>
      </p:sp>
      <p:sp>
        <p:nvSpPr>
          <p:cNvPr id="21" name="Rounded Rectangle 20"/>
          <p:cNvSpPr/>
          <p:nvPr/>
        </p:nvSpPr>
        <p:spPr>
          <a:xfrm>
            <a:off x="523589" y="3720969"/>
            <a:ext cx="2103120" cy="720000"/>
          </a:xfrm>
          <a:prstGeom prst="roundRect">
            <a:avLst>
              <a:gd name="adj" fmla="val 12000"/>
            </a:avLst>
          </a:prstGeom>
          <a:solidFill>
            <a:srgbClr val="FFFFFF"/>
          </a:solidFill>
          <a:ln w="15875">
            <a:solidFill>
              <a:srgbClr val="D7DAE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232633"/>
                </a:solidFill>
                <a:latin typeface="Calibri"/>
              </a:rPr>
              <a:t>All three</a:t>
            </a:r>
          </a:p>
        </p:txBody>
      </p:sp>
      <p:sp>
        <p:nvSpPr>
          <p:cNvPr id="22" name="Rounded Rectangle 21"/>
          <p:cNvSpPr/>
          <p:nvPr/>
        </p:nvSpPr>
        <p:spPr>
          <a:xfrm>
            <a:off x="2626709" y="3720969"/>
            <a:ext cx="1645920" cy="720000"/>
          </a:xfrm>
          <a:prstGeom prst="roundRect">
            <a:avLst>
              <a:gd name="adj" fmla="val 12000"/>
            </a:avLst>
          </a:prstGeom>
          <a:solidFill>
            <a:srgbClr val="EEF1FA"/>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141A45"/>
                </a:solidFill>
                <a:latin typeface="Calibri"/>
              </a:rPr>
              <a:t>≈ −8.6%</a:t>
            </a:r>
          </a:p>
        </p:txBody>
      </p:sp>
      <p:sp>
        <p:nvSpPr>
          <p:cNvPr id="23" name="Rounded Rectangle 22"/>
          <p:cNvSpPr/>
          <p:nvPr/>
        </p:nvSpPr>
        <p:spPr>
          <a:xfrm>
            <a:off x="4285155" y="3720969"/>
            <a:ext cx="1645920" cy="720000"/>
          </a:xfrm>
          <a:prstGeom prst="roundRect">
            <a:avLst>
              <a:gd name="adj" fmla="val 12000"/>
            </a:avLst>
          </a:prstGeom>
          <a:solidFill>
            <a:srgbClr val="FDF4E3"/>
          </a:solidFill>
          <a:ln w="15875">
            <a:solidFill>
              <a:srgbClr val="B886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dirty="0">
                <a:solidFill>
                  <a:srgbClr val="C00000"/>
                </a:solidFill>
                <a:latin typeface="Calibri"/>
              </a:rPr>
              <a:t>≈ −1.3%</a:t>
            </a:r>
          </a:p>
        </p:txBody>
      </p:sp>
      <p:sp>
        <p:nvSpPr>
          <p:cNvPr id="24" name="TextBox 23"/>
          <p:cNvSpPr txBox="1"/>
          <p:nvPr/>
        </p:nvSpPr>
        <p:spPr>
          <a:xfrm>
            <a:off x="548640" y="4784098"/>
            <a:ext cx="5298091" cy="246221"/>
          </a:xfrm>
          <a:prstGeom prst="rect">
            <a:avLst/>
          </a:prstGeom>
          <a:noFill/>
        </p:spPr>
        <p:txBody>
          <a:bodyPr wrap="square" lIns="0" tIns="0" rIns="0" bIns="0" anchor="t">
            <a:spAutoFit/>
          </a:bodyPr>
          <a:lstStyle/>
          <a:p>
            <a:r>
              <a:rPr lang="zh-CN" altLang="zh-CN" sz="1600" i="1" dirty="0">
                <a:solidFill>
                  <a:srgbClr val="5B6070"/>
                </a:solidFill>
                <a:latin typeface="Calibri"/>
              </a:rPr>
              <a:t>% change vs </a:t>
            </a:r>
            <a:r>
              <a:rPr lang="en-US" altLang="zh-CN" sz="1600" i="1" dirty="0">
                <a:solidFill>
                  <a:srgbClr val="5B6070"/>
                </a:solidFill>
                <a:latin typeface="Calibri"/>
              </a:rPr>
              <a:t>No-Change </a:t>
            </a:r>
            <a:r>
              <a:rPr lang="zh-CN" altLang="zh-CN" sz="1600" i="1" dirty="0">
                <a:solidFill>
                  <a:srgbClr val="5B6070"/>
                </a:solidFill>
                <a:latin typeface="Calibri"/>
              </a:rPr>
              <a:t>(higher = bett</a:t>
            </a:r>
            <a:r>
              <a:rPr lang="en-US" altLang="zh-CN" sz="1600" i="1" dirty="0">
                <a:solidFill>
                  <a:srgbClr val="5B6070"/>
                </a:solidFill>
                <a:latin typeface="Calibri"/>
              </a:rPr>
              <a:t>er)</a:t>
            </a:r>
            <a:endParaRPr sz="1050" b="0" i="1" dirty="0">
              <a:solidFill>
                <a:srgbClr val="5B6070"/>
              </a:solidFill>
              <a:latin typeface="Calibri"/>
            </a:endParaRPr>
          </a:p>
        </p:txBody>
      </p:sp>
      <p:sp>
        <p:nvSpPr>
          <p:cNvPr id="29" name="TextBox 28"/>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Aft>
                <a:spcPts val="0"/>
              </a:spcAft>
            </a:pPr>
            <a:r>
              <a:rPr sz="950" b="0" i="0">
                <a:solidFill>
                  <a:srgbClr val="5B6070"/>
                </a:solidFill>
                <a:latin typeface="Calibri"/>
              </a:rPr>
              <a:t>4</a:t>
            </a:r>
          </a:p>
        </p:txBody>
      </p:sp>
      <p:sp>
        <p:nvSpPr>
          <p:cNvPr id="2" name="Rounded Rectangle 11">
            <a:extLst>
              <a:ext uri="{FF2B5EF4-FFF2-40B4-BE49-F238E27FC236}">
                <a16:creationId xmlns:a16="http://schemas.microsoft.com/office/drawing/2014/main" id="{6FC9C670-D471-B4CE-1205-15F60EB520FE}"/>
              </a:ext>
            </a:extLst>
          </p:cNvPr>
          <p:cNvSpPr/>
          <p:nvPr/>
        </p:nvSpPr>
        <p:spPr>
          <a:xfrm>
            <a:off x="5943599" y="1687297"/>
            <a:ext cx="2876605" cy="582331"/>
          </a:xfrm>
          <a:prstGeom prst="roundRect">
            <a:avLst>
              <a:gd name="adj" fmla="val 12000"/>
            </a:avLst>
          </a:prstGeom>
          <a:solidFill>
            <a:srgbClr val="E9E9EC"/>
          </a:solidFill>
          <a:ln w="15875">
            <a:solidFill>
              <a:srgbClr val="5B607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altLang="zh-CN" sz="1600" b="1" dirty="0">
                <a:solidFill>
                  <a:srgbClr val="232633"/>
                </a:solidFill>
                <a:latin typeface="Calibri"/>
              </a:rPr>
              <a:t>Notes</a:t>
            </a:r>
            <a:endParaRPr sz="1600" b="1" dirty="0">
              <a:solidFill>
                <a:srgbClr val="232633"/>
              </a:solidFill>
              <a:latin typeface="Calibri"/>
            </a:endParaRPr>
          </a:p>
        </p:txBody>
      </p:sp>
      <p:sp>
        <p:nvSpPr>
          <p:cNvPr id="27" name="Rounded Rectangle 14">
            <a:extLst>
              <a:ext uri="{FF2B5EF4-FFF2-40B4-BE49-F238E27FC236}">
                <a16:creationId xmlns:a16="http://schemas.microsoft.com/office/drawing/2014/main" id="{A0D5AC7F-6999-29FD-1110-70AC18D91AEC}"/>
              </a:ext>
            </a:extLst>
          </p:cNvPr>
          <p:cNvSpPr/>
          <p:nvPr/>
        </p:nvSpPr>
        <p:spPr>
          <a:xfrm>
            <a:off x="5943600" y="2279713"/>
            <a:ext cx="2876604" cy="720000"/>
          </a:xfrm>
          <a:prstGeom prst="roundRect">
            <a:avLst>
              <a:gd name="adj" fmla="val 12000"/>
            </a:avLst>
          </a:prstGeom>
          <a:solidFill>
            <a:srgbClr val="FFFFFF"/>
          </a:solidFill>
          <a:ln w="15875">
            <a:solidFill>
              <a:srgbClr val="D7DAE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GB" sz="1600" dirty="0">
                <a:solidFill>
                  <a:srgbClr val="232633"/>
                </a:solidFill>
                <a:latin typeface="Calibri"/>
              </a:rPr>
              <a:t>Fusion model improves a lot, close to no-change baseline.</a:t>
            </a:r>
            <a:endParaRPr sz="1600" dirty="0">
              <a:solidFill>
                <a:srgbClr val="232633"/>
              </a:solidFill>
              <a:latin typeface="Calibri"/>
            </a:endParaRPr>
          </a:p>
        </p:txBody>
      </p:sp>
      <p:sp>
        <p:nvSpPr>
          <p:cNvPr id="28" name="Rounded Rectangle 17">
            <a:extLst>
              <a:ext uri="{FF2B5EF4-FFF2-40B4-BE49-F238E27FC236}">
                <a16:creationId xmlns:a16="http://schemas.microsoft.com/office/drawing/2014/main" id="{3555F043-06C4-8A2A-C473-1E4DA6174CE5}"/>
              </a:ext>
            </a:extLst>
          </p:cNvPr>
          <p:cNvSpPr/>
          <p:nvPr/>
        </p:nvSpPr>
        <p:spPr>
          <a:xfrm>
            <a:off x="5943600" y="3012352"/>
            <a:ext cx="2876603" cy="720000"/>
          </a:xfrm>
          <a:prstGeom prst="roundRect">
            <a:avLst>
              <a:gd name="adj" fmla="val 12000"/>
            </a:avLst>
          </a:prstGeom>
          <a:solidFill>
            <a:srgbClr val="FFFFFF"/>
          </a:solidFill>
          <a:ln w="15875">
            <a:solidFill>
              <a:srgbClr val="D7DAE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a:pPr>
            <a:r>
              <a:rPr lang="en-US" altLang="zh-CN" sz="1600" dirty="0">
                <a:solidFill>
                  <a:srgbClr val="000000"/>
                </a:solidFill>
              </a:rPr>
              <a:t>Fusion model improves a bit, but satellite is still weak.</a:t>
            </a:r>
            <a:endParaRPr lang="en-US" altLang="zh-CN" sz="1600" dirty="0"/>
          </a:p>
        </p:txBody>
      </p:sp>
      <p:sp>
        <p:nvSpPr>
          <p:cNvPr id="31" name="Rounded Rectangle 20">
            <a:extLst>
              <a:ext uri="{FF2B5EF4-FFF2-40B4-BE49-F238E27FC236}">
                <a16:creationId xmlns:a16="http://schemas.microsoft.com/office/drawing/2014/main" id="{B7BED064-8ACE-B21C-3624-066A468C3C0F}"/>
              </a:ext>
            </a:extLst>
          </p:cNvPr>
          <p:cNvSpPr/>
          <p:nvPr/>
        </p:nvSpPr>
        <p:spPr>
          <a:xfrm>
            <a:off x="5943600" y="3720969"/>
            <a:ext cx="2876603" cy="720000"/>
          </a:xfrm>
          <a:prstGeom prst="roundRect">
            <a:avLst>
              <a:gd name="adj" fmla="val 12000"/>
            </a:avLst>
          </a:prstGeom>
          <a:solidFill>
            <a:srgbClr val="FFFFFF"/>
          </a:solidFill>
          <a:ln w="15875">
            <a:solidFill>
              <a:srgbClr val="D7DAE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GB" sz="1600" dirty="0">
                <a:solidFill>
                  <a:srgbClr val="232633"/>
                </a:solidFill>
                <a:latin typeface="Calibri"/>
              </a:rPr>
              <a:t>Fusion better than flat.</a:t>
            </a:r>
            <a:endParaRPr sz="1600" dirty="0">
              <a:solidFill>
                <a:srgbClr val="232633"/>
              </a:solidFill>
              <a:latin typeface="Calibri"/>
            </a:endParaRPr>
          </a:p>
        </p:txBody>
      </p:sp>
      <p:sp>
        <p:nvSpPr>
          <p:cNvPr id="34" name="Rounded Rectangle 15">
            <a:extLst>
              <a:ext uri="{FF2B5EF4-FFF2-40B4-BE49-F238E27FC236}">
                <a16:creationId xmlns:a16="http://schemas.microsoft.com/office/drawing/2014/main" id="{94D723B9-2BCD-FF3D-FDC8-65116F1740FA}"/>
              </a:ext>
            </a:extLst>
          </p:cNvPr>
          <p:cNvSpPr/>
          <p:nvPr/>
        </p:nvSpPr>
        <p:spPr>
          <a:xfrm>
            <a:off x="548640" y="5349240"/>
            <a:ext cx="10789920" cy="868680"/>
          </a:xfrm>
          <a:prstGeom prst="roundRect">
            <a:avLst>
              <a:gd name="adj" fmla="val 10000"/>
            </a:avLst>
          </a:prstGeom>
          <a:solidFill>
            <a:srgbClr val="F7F8FA"/>
          </a:solidFill>
          <a:ln w="12700">
            <a:solidFill>
              <a:srgbClr val="D7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6">
            <a:extLst>
              <a:ext uri="{FF2B5EF4-FFF2-40B4-BE49-F238E27FC236}">
                <a16:creationId xmlns:a16="http://schemas.microsoft.com/office/drawing/2014/main" id="{12E8EB05-9C7F-804B-D118-63B34B103F08}"/>
              </a:ext>
            </a:extLst>
          </p:cNvPr>
          <p:cNvSpPr txBox="1"/>
          <p:nvPr/>
        </p:nvSpPr>
        <p:spPr>
          <a:xfrm>
            <a:off x="868680" y="5536799"/>
            <a:ext cx="10149840" cy="474425"/>
          </a:xfrm>
          <a:prstGeom prst="rect">
            <a:avLst/>
          </a:prstGeom>
          <a:noFill/>
        </p:spPr>
        <p:txBody>
          <a:bodyPr wrap="square" lIns="0" tIns="0" rIns="0" bIns="0" anchor="t">
            <a:spAutoFit/>
          </a:bodyPr>
          <a:lstStyle/>
          <a:p>
            <a:pPr>
              <a:lnSpc>
                <a:spcPct val="115000"/>
              </a:lnSpc>
            </a:pPr>
            <a:r>
              <a:rPr lang="en-GB" altLang="zh-CN" sz="1400" b="1" i="1" dirty="0">
                <a:solidFill>
                  <a:srgbClr val="141A45"/>
                </a:solidFill>
                <a:latin typeface="Cambria"/>
              </a:rPr>
              <a:t>Just adding data as columns wastes most of what shipping and satellite data offer; learning each on its own recovers a lot of it — shipping much more so than satellite, so far.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D51E9-9096-8854-3B3F-C255ED2F5C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B13F75-1DA0-F1ED-2D28-AB84B6BDE15C}"/>
              </a:ext>
            </a:extLst>
          </p:cNvPr>
          <p:cNvSpPr>
            <a:spLocks noGrp="1" noRot="1" noMove="1" noResize="1" noEditPoints="1" noAdjustHandles="1" noChangeArrowheads="1" noChangeShapeType="1"/>
          </p:cNvSpPr>
          <p:nvPr/>
        </p:nvSpPr>
        <p:spPr>
          <a:xfrm>
            <a:off x="305"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882382B-4E03-2CA2-34FE-47D5F7F5D704}"/>
              </a:ext>
            </a:extLst>
          </p:cNvPr>
          <p:cNvSpPr txBox="1"/>
          <p:nvPr/>
        </p:nvSpPr>
        <p:spPr>
          <a:xfrm>
            <a:off x="929640" y="2560320"/>
            <a:ext cx="10716260" cy="523028"/>
          </a:xfrm>
          <a:prstGeom prst="rect">
            <a:avLst/>
          </a:prstGeom>
          <a:noFill/>
        </p:spPr>
        <p:txBody>
          <a:bodyPr wrap="square" lIns="0" tIns="0" rIns="0" bIns="0" anchor="t">
            <a:spAutoFit/>
          </a:bodyPr>
          <a:lstStyle/>
          <a:p>
            <a:pPr algn="l">
              <a:lnSpc>
                <a:spcPct val="108000"/>
              </a:lnSpc>
              <a:spcAft>
                <a:spcPts val="0"/>
              </a:spcAft>
            </a:pPr>
            <a:r>
              <a:rPr lang="en-US" altLang="zh-CN" sz="3400" b="1" i="0" dirty="0">
                <a:solidFill>
                  <a:srgbClr val="FFFFFF"/>
                </a:solidFill>
                <a:latin typeface="Cambria"/>
              </a:rPr>
              <a:t>Thank</a:t>
            </a:r>
            <a:r>
              <a:rPr lang="zh-CN" altLang="en-US" sz="3400" b="1" i="0" dirty="0">
                <a:solidFill>
                  <a:srgbClr val="FFFFFF"/>
                </a:solidFill>
                <a:latin typeface="Cambria"/>
              </a:rPr>
              <a:t> </a:t>
            </a:r>
            <a:r>
              <a:rPr lang="en-US" altLang="zh-CN" sz="3400" b="1" dirty="0">
                <a:solidFill>
                  <a:srgbClr val="FFFFFF"/>
                </a:solidFill>
                <a:latin typeface="Cambria"/>
              </a:rPr>
              <a:t>Y</a:t>
            </a:r>
            <a:r>
              <a:rPr lang="en-US" altLang="zh-CN" sz="3400" b="1" i="0" dirty="0">
                <a:solidFill>
                  <a:srgbClr val="FFFFFF"/>
                </a:solidFill>
                <a:latin typeface="Cambria"/>
              </a:rPr>
              <a:t>ou</a:t>
            </a:r>
            <a:r>
              <a:rPr lang="zh-CN" altLang="en-US" sz="3400" b="1" i="0" dirty="0">
                <a:solidFill>
                  <a:srgbClr val="FFFFFF"/>
                </a:solidFill>
                <a:latin typeface="Cambria"/>
              </a:rPr>
              <a:t> </a:t>
            </a:r>
            <a:r>
              <a:rPr lang="en-US" altLang="zh-CN" sz="3400" b="1" i="0" dirty="0">
                <a:solidFill>
                  <a:srgbClr val="FFFFFF"/>
                </a:solidFill>
                <a:latin typeface="Cambria"/>
              </a:rPr>
              <a:t>For</a:t>
            </a:r>
            <a:r>
              <a:rPr lang="zh-CN" altLang="en-US" sz="3400" b="1" i="0" dirty="0">
                <a:solidFill>
                  <a:srgbClr val="FFFFFF"/>
                </a:solidFill>
                <a:latin typeface="Cambria"/>
              </a:rPr>
              <a:t> </a:t>
            </a:r>
            <a:r>
              <a:rPr lang="en-US" altLang="zh-CN" sz="3400" b="1" i="0" dirty="0">
                <a:solidFill>
                  <a:srgbClr val="FFFFFF"/>
                </a:solidFill>
                <a:latin typeface="Cambria"/>
              </a:rPr>
              <a:t>Listening</a:t>
            </a:r>
            <a:endParaRPr lang="en-GB" sz="3400" b="1" i="0" dirty="0">
              <a:solidFill>
                <a:srgbClr val="FFFFFF"/>
              </a:solidFill>
              <a:latin typeface="Cambria"/>
            </a:endParaRPr>
          </a:p>
        </p:txBody>
      </p:sp>
      <p:sp>
        <p:nvSpPr>
          <p:cNvPr id="5" name="TextBox 4">
            <a:extLst>
              <a:ext uri="{FF2B5EF4-FFF2-40B4-BE49-F238E27FC236}">
                <a16:creationId xmlns:a16="http://schemas.microsoft.com/office/drawing/2014/main" id="{BDCF46A6-4B55-86C1-E0BA-87FC6197C68D}"/>
              </a:ext>
            </a:extLst>
          </p:cNvPr>
          <p:cNvSpPr txBox="1"/>
          <p:nvPr/>
        </p:nvSpPr>
        <p:spPr>
          <a:xfrm>
            <a:off x="929640" y="3844174"/>
            <a:ext cx="10332720" cy="261610"/>
          </a:xfrm>
          <a:prstGeom prst="rect">
            <a:avLst/>
          </a:prstGeom>
          <a:noFill/>
        </p:spPr>
        <p:txBody>
          <a:bodyPr wrap="square" lIns="0" tIns="0" rIns="0" bIns="0" anchor="t">
            <a:spAutoFit/>
          </a:bodyPr>
          <a:lstStyle/>
          <a:p>
            <a:pPr algn="l">
              <a:lnSpc>
                <a:spcPct val="100000"/>
              </a:lnSpc>
              <a:spcAft>
                <a:spcPts val="0"/>
              </a:spcAft>
            </a:pPr>
            <a:r>
              <a:rPr lang="en-US" altLang="zh-CN" sz="1700" b="0" i="1" dirty="0">
                <a:solidFill>
                  <a:srgbClr val="CADCFC"/>
                </a:solidFill>
                <a:latin typeface="Calibri"/>
              </a:rPr>
              <a:t>XINRUI</a:t>
            </a:r>
            <a:r>
              <a:rPr lang="zh-CN" altLang="en-US" sz="1700" b="0" i="1" dirty="0">
                <a:solidFill>
                  <a:srgbClr val="CADCFC"/>
                </a:solidFill>
                <a:latin typeface="Calibri"/>
              </a:rPr>
              <a:t> </a:t>
            </a:r>
            <a:r>
              <a:rPr lang="en-US" altLang="zh-CN" sz="1700" b="0" i="1" dirty="0">
                <a:solidFill>
                  <a:srgbClr val="CADCFC"/>
                </a:solidFill>
                <a:latin typeface="Calibri"/>
              </a:rPr>
              <a:t>QI</a:t>
            </a:r>
            <a:r>
              <a:rPr lang="zh-CN" altLang="en-US" sz="1700" b="0" i="1" dirty="0">
                <a:solidFill>
                  <a:srgbClr val="CADCFC"/>
                </a:solidFill>
                <a:latin typeface="Calibri"/>
              </a:rPr>
              <a:t>            </a:t>
            </a:r>
            <a:r>
              <a:rPr lang="en-US" altLang="zh-CN" sz="1700" b="0" i="1" dirty="0">
                <a:solidFill>
                  <a:srgbClr val="CADCFC"/>
                </a:solidFill>
                <a:latin typeface="Calibri"/>
              </a:rPr>
              <a:t>xinruiqi7@gmail.com</a:t>
            </a:r>
            <a:endParaRPr sz="1700" b="0" i="1" dirty="0">
              <a:solidFill>
                <a:srgbClr val="CADCFC"/>
              </a:solidFill>
              <a:latin typeface="Calibri"/>
            </a:endParaRPr>
          </a:p>
        </p:txBody>
      </p:sp>
    </p:spTree>
    <p:extLst>
      <p:ext uri="{BB962C8B-B14F-4D97-AF65-F5344CB8AC3E}">
        <p14:creationId xmlns:p14="http://schemas.microsoft.com/office/powerpoint/2010/main" val="1327826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477</TotalTime>
  <Words>1716</Words>
  <Application>Microsoft Macintosh PowerPoint</Application>
  <PresentationFormat>宽屏</PresentationFormat>
  <Paragraphs>157</Paragraphs>
  <Slides>6</Slides>
  <Notes>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Arial</vt:lpstr>
      <vt:lpstr>Calibri</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Xinrui Qi</cp:lastModifiedBy>
  <cp:revision>9</cp:revision>
  <dcterms:created xsi:type="dcterms:W3CDTF">2013-01-27T09:14:16Z</dcterms:created>
  <dcterms:modified xsi:type="dcterms:W3CDTF">2026-07-14T10:30:01Z</dcterms:modified>
  <cp:category/>
</cp:coreProperties>
</file>